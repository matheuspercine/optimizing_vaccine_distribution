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</p:sldIdLst>
  <p:sldSz cx="18288000" cy="10287000"/>
  <p:notesSz cx="6858000" cy="9144000"/>
  <p:embeddedFontLst>
    <p:embeddedFont>
      <p:font typeface="Josefin Sans" charset="1" panose="00000500000000000000"/>
      <p:regular r:id="rId128"/>
    </p:embeddedFont>
    <p:embeddedFont>
      <p:font typeface="Josefin Sans Bold" charset="1" panose="00000800000000000000"/>
      <p:regular r:id="rId129"/>
    </p:embeddedFont>
    <p:embeddedFont>
      <p:font typeface="Now Bold" charset="1" panose="00000800000000000000"/>
      <p:regular r:id="rId130"/>
    </p:embeddedFont>
    <p:embeddedFont>
      <p:font typeface="Now" charset="1" panose="00000500000000000000"/>
      <p:regular r:id="rId131"/>
    </p:embeddedFont>
    <p:embeddedFont>
      <p:font typeface="Now Medium" charset="1" panose="00000600000000000000"/>
      <p:regular r:id="rId132"/>
    </p:embeddedFont>
    <p:embeddedFont>
      <p:font typeface="Jannah Medium" charset="1" panose="00000600000000000000"/>
      <p:regular r:id="rId133"/>
    </p:embeddedFont>
    <p:embeddedFont>
      <p:font typeface="Open Sans" charset="1" panose="020B0606030504020204"/>
      <p:regular r:id="rId134"/>
    </p:embeddedFont>
    <p:embeddedFont>
      <p:font typeface="Open Sans Bold" charset="1" panose="020B0806030504020204"/>
      <p:regular r:id="rId1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fonts/font128.fntdata" Type="http://schemas.openxmlformats.org/officeDocument/2006/relationships/font"/><Relationship Id="rId129" Target="fonts/font129.fntdata" Type="http://schemas.openxmlformats.org/officeDocument/2006/relationships/font"/><Relationship Id="rId13" Target="slides/slide8.xml" Type="http://schemas.openxmlformats.org/officeDocument/2006/relationships/slide"/><Relationship Id="rId130" Target="fonts/font130.fntdata" Type="http://schemas.openxmlformats.org/officeDocument/2006/relationships/font"/><Relationship Id="rId131" Target="fonts/font131.fntdata" Type="http://schemas.openxmlformats.org/officeDocument/2006/relationships/font"/><Relationship Id="rId132" Target="fonts/font132.fntdata" Type="http://schemas.openxmlformats.org/officeDocument/2006/relationships/font"/><Relationship Id="rId133" Target="fonts/font133.fntdata" Type="http://schemas.openxmlformats.org/officeDocument/2006/relationships/font"/><Relationship Id="rId134" Target="fonts/font134.fntdata" Type="http://schemas.openxmlformats.org/officeDocument/2006/relationships/font"/><Relationship Id="rId135" Target="fonts/font135.fntdata" Type="http://schemas.openxmlformats.org/officeDocument/2006/relationships/font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80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png" Type="http://schemas.openxmlformats.org/officeDocument/2006/relationships/image"/><Relationship Id="rId4" Target="../media/image93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100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1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103.svg" Type="http://schemas.openxmlformats.org/officeDocument/2006/relationships/image"/><Relationship Id="rId4" Target="../media/image104.png" Type="http://schemas.openxmlformats.org/officeDocument/2006/relationships/image"/><Relationship Id="rId5" Target="../media/image105.sv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6.png" Type="http://schemas.openxmlformats.org/officeDocument/2006/relationships/image"/><Relationship Id="rId3" Target="../media/image107.sv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8.png" Type="http://schemas.openxmlformats.org/officeDocument/2006/relationships/image"/><Relationship Id="rId3" Target="../media/image109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0.png" Type="http://schemas.openxmlformats.org/officeDocument/2006/relationships/image"/><Relationship Id="rId3" Target="../media/image111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sv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7.png" Type="http://schemas.openxmlformats.org/officeDocument/2006/relationships/image"/><Relationship Id="rId3" Target="../media/image118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svg" Type="http://schemas.openxmlformats.org/officeDocument/2006/relationships/image"/><Relationship Id="rId4" Target="../media/image121.png" Type="http://schemas.openxmlformats.org/officeDocument/2006/relationships/image"/><Relationship Id="rId5" Target="../media/image122.sv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3.png" Type="http://schemas.openxmlformats.org/officeDocument/2006/relationships/image"/><Relationship Id="rId3" Target="../media/image124.png" Type="http://schemas.openxmlformats.org/officeDocument/2006/relationships/image"/><Relationship Id="rId4" Target="../media/image125.png" Type="http://schemas.openxmlformats.org/officeDocument/2006/relationships/image"/><Relationship Id="rId5" Target="../media/image126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7.png" Type="http://schemas.openxmlformats.org/officeDocument/2006/relationships/image"/><Relationship Id="rId3" Target="../media/image128.png" Type="http://schemas.openxmlformats.org/officeDocument/2006/relationships/image"/><Relationship Id="rId4" Target="../media/image129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0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1.png" Type="http://schemas.openxmlformats.org/officeDocument/2006/relationships/image"/><Relationship Id="rId3" Target="../media/image132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3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4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5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6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7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8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0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1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2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3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4.png" Type="http://schemas.openxmlformats.org/officeDocument/2006/relationships/image"/><Relationship Id="rId3" Target="../media/image145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6.png" Type="http://schemas.openxmlformats.org/officeDocument/2006/relationships/image"/><Relationship Id="rId3" Target="https://mapa-rotas-m1-false.netlify.app" TargetMode="External" Type="http://schemas.openxmlformats.org/officeDocument/2006/relationships/hyperlink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7.png" Type="http://schemas.openxmlformats.org/officeDocument/2006/relationships/image"/><Relationship Id="rId3" Target="https://mapa-rotas-m1-true.netlify.app" TargetMode="External" Type="http://schemas.openxmlformats.org/officeDocument/2006/relationships/hyperlink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8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9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0.pn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1.png" Type="http://schemas.openxmlformats.org/officeDocument/2006/relationships/image"/><Relationship Id="rId3" Target="../media/image152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3.png" Type="http://schemas.openxmlformats.org/officeDocument/2006/relationships/image"/><Relationship Id="rId3" Target="https://mapa-rotas-m2-false.netlify.app" TargetMode="External" Type="http://schemas.openxmlformats.org/officeDocument/2006/relationships/hyperlink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4.png" Type="http://schemas.openxmlformats.org/officeDocument/2006/relationships/image"/><Relationship Id="rId3" Target="https://mapa-rotas-m2-true.netlify.app" TargetMode="External" Type="http://schemas.openxmlformats.org/officeDocument/2006/relationships/hyperlink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5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6.png" Type="http://schemas.openxmlformats.org/officeDocument/2006/relationships/image"/><Relationship Id="rId3" Target="../media/image157.png" Type="http://schemas.openxmlformats.org/officeDocument/2006/relationships/image"/><Relationship Id="rId4" Target="../media/image158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9.png" Type="http://schemas.openxmlformats.org/officeDocument/2006/relationships/image"/><Relationship Id="rId3" Target="../media/image160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1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2.png" Type="http://schemas.openxmlformats.org/officeDocument/2006/relationships/image"/><Relationship Id="rId3" Target="../media/image163.png" Type="http://schemas.openxmlformats.org/officeDocument/2006/relationships/image"/><Relationship Id="rId4" Target="../media/image164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5.png" Type="http://schemas.openxmlformats.org/officeDocument/2006/relationships/image"/><Relationship Id="rId3" Target="../media/image166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7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297976">
            <a:off x="4938538" y="-2542644"/>
            <a:ext cx="9612904" cy="8712752"/>
            <a:chOff x="0" y="0"/>
            <a:chExt cx="812800" cy="736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36689"/>
            </a:xfrm>
            <a:custGeom>
              <a:avLst/>
              <a:gdLst/>
              <a:ahLst/>
              <a:cxnLst/>
              <a:rect r="r" b="b" t="t" l="l"/>
              <a:pathLst>
                <a:path h="736689" w="812800">
                  <a:moveTo>
                    <a:pt x="406400" y="0"/>
                  </a:moveTo>
                  <a:lnTo>
                    <a:pt x="812800" y="736689"/>
                  </a:lnTo>
                  <a:lnTo>
                    <a:pt x="0" y="73668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294409"/>
              <a:ext cx="558800" cy="389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989027">
            <a:off x="1742970" y="-1984570"/>
            <a:ext cx="16351221" cy="5589085"/>
            <a:chOff x="0" y="0"/>
            <a:chExt cx="1047713" cy="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713" cy="358123"/>
            </a:xfrm>
            <a:custGeom>
              <a:avLst/>
              <a:gdLst/>
              <a:ahLst/>
              <a:cxnLst/>
              <a:rect r="r" b="b" t="t" l="l"/>
              <a:pathLst>
                <a:path h="358123" w="1047713">
                  <a:moveTo>
                    <a:pt x="523856" y="0"/>
                  </a:moveTo>
                  <a:lnTo>
                    <a:pt x="1047713" y="358123"/>
                  </a:lnTo>
                  <a:lnTo>
                    <a:pt x="0" y="358123"/>
                  </a:lnTo>
                  <a:lnTo>
                    <a:pt x="523856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63705" y="128172"/>
              <a:ext cx="720302" cy="204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80402" y="0"/>
            <a:ext cx="13816398" cy="10287000"/>
          </a:xfrm>
          <a:custGeom>
            <a:avLst/>
            <a:gdLst/>
            <a:ahLst/>
            <a:cxnLst/>
            <a:rect r="r" b="b" t="t" l="l"/>
            <a:pathLst>
              <a:path h="10287000" w="13816398">
                <a:moveTo>
                  <a:pt x="0" y="0"/>
                </a:moveTo>
                <a:lnTo>
                  <a:pt x="13816398" y="0"/>
                </a:lnTo>
                <a:lnTo>
                  <a:pt x="138163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1549" y="5964745"/>
            <a:ext cx="619475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23D54"/>
                </a:solidFill>
                <a:latin typeface="Josefin Sans"/>
                <a:ea typeface="Josefin Sans"/>
                <a:cs typeface="Josefin Sans"/>
                <a:sym typeface="Josefin Sans"/>
              </a:rPr>
              <a:t>Matheus da Cruz Percine Pinto</a:t>
            </a:r>
          </a:p>
        </p:txBody>
      </p:sp>
      <p:grpSp>
        <p:nvGrpSpPr>
          <p:cNvPr name="Group 10" id="10"/>
          <p:cNvGrpSpPr/>
          <p:nvPr/>
        </p:nvGrpSpPr>
        <p:grpSpPr>
          <a:xfrm rot="2989027">
            <a:off x="1835095" y="-2093105"/>
            <a:ext cx="14383314" cy="4916425"/>
            <a:chOff x="0" y="0"/>
            <a:chExt cx="1047713" cy="3581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7713" cy="358123"/>
            </a:xfrm>
            <a:custGeom>
              <a:avLst/>
              <a:gdLst/>
              <a:ahLst/>
              <a:cxnLst/>
              <a:rect r="r" b="b" t="t" l="l"/>
              <a:pathLst>
                <a:path h="358123" w="1047713">
                  <a:moveTo>
                    <a:pt x="523856" y="0"/>
                  </a:moveTo>
                  <a:lnTo>
                    <a:pt x="1047713" y="358123"/>
                  </a:lnTo>
                  <a:lnTo>
                    <a:pt x="0" y="358123"/>
                  </a:lnTo>
                  <a:lnTo>
                    <a:pt x="52385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63705" y="128172"/>
              <a:ext cx="720302" cy="204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4128870">
            <a:off x="421123" y="861266"/>
            <a:ext cx="23300020" cy="3876576"/>
            <a:chOff x="0" y="0"/>
            <a:chExt cx="7881735" cy="13113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81735" cy="1311335"/>
            </a:xfrm>
            <a:custGeom>
              <a:avLst/>
              <a:gdLst/>
              <a:ahLst/>
              <a:cxnLst/>
              <a:rect r="r" b="b" t="t" l="l"/>
              <a:pathLst>
                <a:path h="1311335" w="7881735">
                  <a:moveTo>
                    <a:pt x="0" y="0"/>
                  </a:moveTo>
                  <a:lnTo>
                    <a:pt x="7881735" y="0"/>
                  </a:lnTo>
                  <a:lnTo>
                    <a:pt x="7881735" y="1311335"/>
                  </a:lnTo>
                  <a:lnTo>
                    <a:pt x="0" y="1311335"/>
                  </a:lnTo>
                  <a:close/>
                </a:path>
              </a:pathLst>
            </a:custGeom>
            <a:solidFill>
              <a:srgbClr val="09427D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244479" y="-201904"/>
            <a:ext cx="2168491" cy="2461208"/>
          </a:xfrm>
          <a:custGeom>
            <a:avLst/>
            <a:gdLst/>
            <a:ahLst/>
            <a:cxnLst/>
            <a:rect r="r" b="b" t="t" l="l"/>
            <a:pathLst>
              <a:path h="2461208" w="2168491">
                <a:moveTo>
                  <a:pt x="0" y="0"/>
                </a:moveTo>
                <a:lnTo>
                  <a:pt x="2168491" y="0"/>
                </a:lnTo>
                <a:lnTo>
                  <a:pt x="2168491" y="2461208"/>
                </a:lnTo>
                <a:lnTo>
                  <a:pt x="0" y="2461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1549" y="5452590"/>
            <a:ext cx="4111462" cy="57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  <a:spcBef>
                <a:spcPct val="0"/>
              </a:spcBef>
            </a:pPr>
            <a:r>
              <a:rPr lang="en-US" b="true" sz="3286">
                <a:solidFill>
                  <a:srgbClr val="023D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Autor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1549" y="7436040"/>
            <a:ext cx="4111462" cy="57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  <a:spcBef>
                <a:spcPct val="0"/>
              </a:spcBef>
            </a:pPr>
            <a:r>
              <a:rPr lang="en-US" b="true" sz="3286">
                <a:solidFill>
                  <a:srgbClr val="023D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Orientadora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549" y="9363994"/>
            <a:ext cx="693535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23D54"/>
                </a:solidFill>
                <a:latin typeface="Josefin Sans"/>
                <a:ea typeface="Josefin Sans"/>
                <a:cs typeface="Josefin Sans"/>
                <a:sym typeface="Josefin Sans"/>
              </a:rPr>
              <a:t>Maria Helena Cautiero Horta Jardim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1549" y="7889796"/>
            <a:ext cx="693535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23D54"/>
                </a:solidFill>
                <a:latin typeface="Josefin Sans"/>
                <a:ea typeface="Josefin Sans"/>
                <a:cs typeface="Josefin Sans"/>
                <a:sym typeface="Josefin Sans"/>
              </a:rPr>
              <a:t>Luziane Ferreira de Mendonça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1549" y="8852822"/>
            <a:ext cx="4111462" cy="57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  <a:spcBef>
                <a:spcPct val="0"/>
              </a:spcBef>
            </a:pPr>
            <a:r>
              <a:rPr lang="en-US" b="true" sz="3286">
                <a:solidFill>
                  <a:srgbClr val="023D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Coorientadora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1549" y="3379951"/>
            <a:ext cx="7924374" cy="63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  <a:spcBef>
                <a:spcPct val="0"/>
              </a:spcBef>
            </a:pPr>
            <a:r>
              <a:rPr lang="en-US" b="true" sz="3700">
                <a:solidFill>
                  <a:srgbClr val="09427D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Trabalho de Conclusão de Curso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1549" y="89374"/>
            <a:ext cx="9385065" cy="227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4686C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Minimização do Tempo de Redistribuição de Vacinas Usando Programação Linear Inteira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5751" y="-17393"/>
            <a:ext cx="9240342" cy="10304393"/>
            <a:chOff x="0" y="0"/>
            <a:chExt cx="3125745" cy="34856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5746" cy="3485684"/>
            </a:xfrm>
            <a:custGeom>
              <a:avLst/>
              <a:gdLst/>
              <a:ahLst/>
              <a:cxnLst/>
              <a:rect r="r" b="b" t="t" l="l"/>
              <a:pathLst>
                <a:path h="3485684" w="3125746">
                  <a:moveTo>
                    <a:pt x="3001285" y="3485683"/>
                  </a:moveTo>
                  <a:lnTo>
                    <a:pt x="124460" y="3485683"/>
                  </a:lnTo>
                  <a:cubicBezTo>
                    <a:pt x="55880" y="3485683"/>
                    <a:pt x="0" y="3429804"/>
                    <a:pt x="0" y="336122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01286" y="0"/>
                  </a:lnTo>
                  <a:cubicBezTo>
                    <a:pt x="3069866" y="0"/>
                    <a:pt x="3125746" y="55880"/>
                    <a:pt x="3125746" y="124460"/>
                  </a:cubicBezTo>
                  <a:lnTo>
                    <a:pt x="3125746" y="3361224"/>
                  </a:lnTo>
                  <a:cubicBezTo>
                    <a:pt x="3125746" y="3429804"/>
                    <a:pt x="3069866" y="3485684"/>
                    <a:pt x="3001286" y="3485684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4454" y="5143500"/>
            <a:ext cx="9062659" cy="9062659"/>
            <a:chOff x="0" y="0"/>
            <a:chExt cx="12083545" cy="1208354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083545" cy="12083545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107282" y="1107282"/>
              <a:ext cx="9868982" cy="9868982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6456716" y="1565268"/>
            <a:ext cx="8135926" cy="7401678"/>
            <a:chOff x="0" y="0"/>
            <a:chExt cx="2752153" cy="2503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2153" cy="2503778"/>
            </a:xfrm>
            <a:custGeom>
              <a:avLst/>
              <a:gdLst/>
              <a:ahLst/>
              <a:cxnLst/>
              <a:rect r="r" b="b" t="t" l="l"/>
              <a:pathLst>
                <a:path h="2503778" w="2752153">
                  <a:moveTo>
                    <a:pt x="2627693" y="2503777"/>
                  </a:moveTo>
                  <a:lnTo>
                    <a:pt x="124460" y="2503777"/>
                  </a:lnTo>
                  <a:cubicBezTo>
                    <a:pt x="55880" y="2503777"/>
                    <a:pt x="0" y="2447897"/>
                    <a:pt x="0" y="237931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7693" y="0"/>
                  </a:lnTo>
                  <a:cubicBezTo>
                    <a:pt x="2696273" y="0"/>
                    <a:pt x="2752153" y="55880"/>
                    <a:pt x="2752153" y="124460"/>
                  </a:cubicBezTo>
                  <a:lnTo>
                    <a:pt x="2752153" y="2379318"/>
                  </a:lnTo>
                  <a:cubicBezTo>
                    <a:pt x="2752153" y="2447897"/>
                    <a:pt x="2696273" y="2503778"/>
                    <a:pt x="2627693" y="2503778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3545837" y="3849684"/>
            <a:ext cx="4947375" cy="7600717"/>
          </a:xfrm>
          <a:custGeom>
            <a:avLst/>
            <a:gdLst/>
            <a:ahLst/>
            <a:cxnLst/>
            <a:rect r="r" b="b" t="t" l="l"/>
            <a:pathLst>
              <a:path h="7600717" w="4947375">
                <a:moveTo>
                  <a:pt x="4947376" y="0"/>
                </a:moveTo>
                <a:lnTo>
                  <a:pt x="0" y="0"/>
                </a:lnTo>
                <a:lnTo>
                  <a:pt x="0" y="7600717"/>
                </a:lnTo>
                <a:lnTo>
                  <a:pt x="4947376" y="7600717"/>
                </a:lnTo>
                <a:lnTo>
                  <a:pt x="49473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4371866"/>
            <a:ext cx="4465827" cy="1525875"/>
            <a:chOff x="0" y="0"/>
            <a:chExt cx="5954437" cy="20345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5954437" cy="142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960"/>
                </a:lnSpc>
              </a:pPr>
              <a:r>
                <a:rPr lang="en-US" sz="6400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Sumário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72220"/>
              <a:ext cx="595443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23455" y="2177134"/>
            <a:ext cx="6522468" cy="358140"/>
            <a:chOff x="0" y="0"/>
            <a:chExt cx="8696624" cy="4775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1146305" y="-47625"/>
              <a:ext cx="75503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Introdução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448072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23455" y="2982137"/>
            <a:ext cx="6522468" cy="1061085"/>
            <a:chOff x="0" y="0"/>
            <a:chExt cx="8696624" cy="141478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511175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46305" y="-47625"/>
              <a:ext cx="755031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Revisão de Literatura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Fundamentação Teórica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Trabalhos Correlatos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23455" y="4490897"/>
            <a:ext cx="6522468" cy="358140"/>
            <a:chOff x="0" y="0"/>
            <a:chExt cx="8696624" cy="47752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66675"/>
              <a:ext cx="528439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46305" y="-47625"/>
              <a:ext cx="75503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Logística da Distribuição de Vacinas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23455" y="5261633"/>
            <a:ext cx="6522468" cy="1061085"/>
            <a:chOff x="0" y="0"/>
            <a:chExt cx="8696624" cy="141478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66675"/>
              <a:ext cx="539155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146305" y="-47625"/>
              <a:ext cx="7550318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Modelagem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Modelo Sem Intermediação Estadual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Modelo Com Intermediação Estadual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523455" y="6735315"/>
            <a:ext cx="6522468" cy="358140"/>
            <a:chOff x="0" y="0"/>
            <a:chExt cx="8696624" cy="47752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66675"/>
              <a:ext cx="536972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05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146305" y="-47625"/>
              <a:ext cx="75503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Aplicação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23455" y="7439376"/>
            <a:ext cx="6522468" cy="358140"/>
            <a:chOff x="0" y="0"/>
            <a:chExt cx="8696624" cy="47752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66675"/>
              <a:ext cx="69802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146305" y="-47625"/>
              <a:ext cx="75503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Resultados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23455" y="8140416"/>
            <a:ext cx="6522468" cy="358140"/>
            <a:chOff x="0" y="0"/>
            <a:chExt cx="8696624" cy="47752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66675"/>
              <a:ext cx="536972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07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146305" y="-47625"/>
              <a:ext cx="75503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Conclusão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3412" y="4424362"/>
            <a:ext cx="666117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16620"/>
            <a:ext cx="18288000" cy="5236410"/>
            <a:chOff x="0" y="0"/>
            <a:chExt cx="6186311" cy="1771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1771329"/>
            </a:xfrm>
            <a:custGeom>
              <a:avLst/>
              <a:gdLst/>
              <a:ahLst/>
              <a:cxnLst/>
              <a:rect r="r" b="b" t="t" l="l"/>
              <a:pathLst>
                <a:path h="1771329" w="6186311">
                  <a:moveTo>
                    <a:pt x="6061851" y="1771329"/>
                  </a:moveTo>
                  <a:lnTo>
                    <a:pt x="124460" y="1771329"/>
                  </a:lnTo>
                  <a:cubicBezTo>
                    <a:pt x="55880" y="1771329"/>
                    <a:pt x="0" y="1715449"/>
                    <a:pt x="0" y="16468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646869"/>
                  </a:lnTo>
                  <a:cubicBezTo>
                    <a:pt x="6186311" y="1715449"/>
                    <a:pt x="6130431" y="1771329"/>
                    <a:pt x="6061851" y="1771329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20737" y="3287212"/>
            <a:ext cx="12046525" cy="2678600"/>
            <a:chOff x="0" y="0"/>
            <a:chExt cx="4074997" cy="906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4998" cy="906094"/>
            </a:xfrm>
            <a:custGeom>
              <a:avLst/>
              <a:gdLst/>
              <a:ahLst/>
              <a:cxnLst/>
              <a:rect r="r" b="b" t="t" l="l"/>
              <a:pathLst>
                <a:path h="906094" w="4074998">
                  <a:moveTo>
                    <a:pt x="3950538" y="906094"/>
                  </a:moveTo>
                  <a:lnTo>
                    <a:pt x="124460" y="906094"/>
                  </a:lnTo>
                  <a:cubicBezTo>
                    <a:pt x="55880" y="906094"/>
                    <a:pt x="0" y="850214"/>
                    <a:pt x="0" y="7816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50538" y="0"/>
                  </a:lnTo>
                  <a:cubicBezTo>
                    <a:pt x="4019117" y="0"/>
                    <a:pt x="4074998" y="55880"/>
                    <a:pt x="4074998" y="124460"/>
                  </a:cubicBezTo>
                  <a:lnTo>
                    <a:pt x="4074998" y="781634"/>
                  </a:lnTo>
                  <a:cubicBezTo>
                    <a:pt x="4074998" y="850214"/>
                    <a:pt x="4019117" y="906094"/>
                    <a:pt x="3950538" y="906094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20737" y="6432167"/>
            <a:ext cx="8222953" cy="50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 pandemia fez sugir: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530064" y="7252961"/>
            <a:ext cx="6045421" cy="6045421"/>
            <a:chOff x="0" y="0"/>
            <a:chExt cx="8060561" cy="80605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060561" cy="8060561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738634" y="738634"/>
              <a:ext cx="6583294" cy="658329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5127707" y="3862874"/>
            <a:ext cx="8032587" cy="1551558"/>
            <a:chOff x="0" y="0"/>
            <a:chExt cx="10710115" cy="206874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33350"/>
              <a:ext cx="10710115" cy="147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9"/>
                </a:lnSpc>
                <a:spcBef>
                  <a:spcPct val="0"/>
                </a:spcBef>
              </a:pPr>
              <a:r>
                <a:rPr lang="en-US" b="true" sz="6599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700</a:t>
              </a:r>
              <a:r>
                <a:rPr lang="en-US" b="true" sz="6599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 mil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56087"/>
              <a:ext cx="10710115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Mortes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127707" y="1760235"/>
            <a:ext cx="8515733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spc="297">
                <a:solidFill>
                  <a:srgbClr val="F5F5E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IMPACTO DA COVID-19 NO BRASIL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20737" y="7425573"/>
            <a:ext cx="12046525" cy="2678600"/>
            <a:chOff x="0" y="0"/>
            <a:chExt cx="4074997" cy="9060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74998" cy="906094"/>
            </a:xfrm>
            <a:custGeom>
              <a:avLst/>
              <a:gdLst/>
              <a:ahLst/>
              <a:cxnLst/>
              <a:rect r="r" b="b" t="t" l="l"/>
              <a:pathLst>
                <a:path h="906094" w="4074998">
                  <a:moveTo>
                    <a:pt x="3950538" y="906094"/>
                  </a:moveTo>
                  <a:lnTo>
                    <a:pt x="124460" y="906094"/>
                  </a:lnTo>
                  <a:cubicBezTo>
                    <a:pt x="55880" y="906094"/>
                    <a:pt x="0" y="850214"/>
                    <a:pt x="0" y="7816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50538" y="0"/>
                  </a:lnTo>
                  <a:cubicBezTo>
                    <a:pt x="4019117" y="0"/>
                    <a:pt x="4074998" y="55880"/>
                    <a:pt x="4074998" y="124460"/>
                  </a:cubicBezTo>
                  <a:lnTo>
                    <a:pt x="4074998" y="781634"/>
                  </a:lnTo>
                  <a:cubicBezTo>
                    <a:pt x="4074998" y="850214"/>
                    <a:pt x="4019117" y="906094"/>
                    <a:pt x="3950538" y="906094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937878" y="8078437"/>
            <a:ext cx="8032587" cy="12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 necessidade de distribuir vacinas em tempo recorde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326" y="2090865"/>
            <a:ext cx="8902155" cy="272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No processo de imunização da população, enquanto determinadas regiões podem aprensentar excesso temporário de doses armazenadas, outras podem enfrentar escassez de imunizantes.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8359" y="236299"/>
            <a:ext cx="1406251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Excesso e Falta de Doses nos Municípios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326" y="5693736"/>
            <a:ext cx="8902155" cy="326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Diante dessa desigualdade de necessidade, a redistribuição eficiente de vacinas entre municípios e postos de vacinação torna-se crucial para garantir a cobertura vacinal adequada e evitar o desperdício de doses.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702424" y="1609979"/>
            <a:ext cx="4939014" cy="8300864"/>
          </a:xfrm>
          <a:custGeom>
            <a:avLst/>
            <a:gdLst/>
            <a:ahLst/>
            <a:cxnLst/>
            <a:rect r="r" b="b" t="t" l="l"/>
            <a:pathLst>
              <a:path h="8300864" w="4939014">
                <a:moveTo>
                  <a:pt x="0" y="0"/>
                </a:moveTo>
                <a:lnTo>
                  <a:pt x="4939014" y="0"/>
                </a:lnTo>
                <a:lnTo>
                  <a:pt x="4939014" y="8300863"/>
                </a:lnTo>
                <a:lnTo>
                  <a:pt x="0" y="8300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6677" y="2092804"/>
            <a:ext cx="5235131" cy="8194196"/>
            <a:chOff x="0" y="0"/>
            <a:chExt cx="1570033" cy="24574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0033" cy="2457466"/>
            </a:xfrm>
            <a:custGeom>
              <a:avLst/>
              <a:gdLst/>
              <a:ahLst/>
              <a:cxnLst/>
              <a:rect r="r" b="b" t="t" l="l"/>
              <a:pathLst>
                <a:path h="2457466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2457466"/>
                  </a:lnTo>
                  <a:lnTo>
                    <a:pt x="0" y="2457466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70033" cy="2495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161" y="1852300"/>
            <a:ext cx="5235131" cy="240504"/>
            <a:chOff x="0" y="0"/>
            <a:chExt cx="1570033" cy="72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0033" cy="72128"/>
            </a:xfrm>
            <a:custGeom>
              <a:avLst/>
              <a:gdLst/>
              <a:ahLst/>
              <a:cxnLst/>
              <a:rect r="r" b="b" t="t" l="l"/>
              <a:pathLst>
                <a:path h="72128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72128"/>
                  </a:lnTo>
                  <a:lnTo>
                    <a:pt x="0" y="72128"/>
                  </a:ln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70033" cy="110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20423" y="1852300"/>
            <a:ext cx="5235131" cy="240504"/>
            <a:chOff x="0" y="0"/>
            <a:chExt cx="1570033" cy="72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0033" cy="72128"/>
            </a:xfrm>
            <a:custGeom>
              <a:avLst/>
              <a:gdLst/>
              <a:ahLst/>
              <a:cxnLst/>
              <a:rect r="r" b="b" t="t" l="l"/>
              <a:pathLst>
                <a:path h="72128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72128"/>
                  </a:lnTo>
                  <a:lnTo>
                    <a:pt x="0" y="72128"/>
                  </a:ln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70033" cy="110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24169" y="1852300"/>
            <a:ext cx="5235131" cy="240504"/>
            <a:chOff x="0" y="0"/>
            <a:chExt cx="1570033" cy="72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0033" cy="72128"/>
            </a:xfrm>
            <a:custGeom>
              <a:avLst/>
              <a:gdLst/>
              <a:ahLst/>
              <a:cxnLst/>
              <a:rect r="r" b="b" t="t" l="l"/>
              <a:pathLst>
                <a:path h="72128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72128"/>
                  </a:lnTo>
                  <a:lnTo>
                    <a:pt x="0" y="72128"/>
                  </a:ln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70033" cy="110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21741" y="2092804"/>
            <a:ext cx="5235131" cy="8194196"/>
            <a:chOff x="0" y="0"/>
            <a:chExt cx="1570033" cy="2457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0033" cy="2457466"/>
            </a:xfrm>
            <a:custGeom>
              <a:avLst/>
              <a:gdLst/>
              <a:ahLst/>
              <a:cxnLst/>
              <a:rect r="r" b="b" t="t" l="l"/>
              <a:pathLst>
                <a:path h="2457466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2457466"/>
                  </a:lnTo>
                  <a:lnTo>
                    <a:pt x="0" y="2457466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70033" cy="2495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24169" y="2092804"/>
            <a:ext cx="5235131" cy="8194196"/>
            <a:chOff x="0" y="0"/>
            <a:chExt cx="1570033" cy="24574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70033" cy="2457466"/>
            </a:xfrm>
            <a:custGeom>
              <a:avLst/>
              <a:gdLst/>
              <a:ahLst/>
              <a:cxnLst/>
              <a:rect r="r" b="b" t="t" l="l"/>
              <a:pathLst>
                <a:path h="2457466" w="1570033">
                  <a:moveTo>
                    <a:pt x="0" y="0"/>
                  </a:moveTo>
                  <a:lnTo>
                    <a:pt x="1570033" y="0"/>
                  </a:lnTo>
                  <a:lnTo>
                    <a:pt x="1570033" y="2457466"/>
                  </a:lnTo>
                  <a:lnTo>
                    <a:pt x="0" y="2457466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70033" cy="2495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2700000">
            <a:off x="15651243" y="9312941"/>
            <a:ext cx="6664400" cy="8669109"/>
            <a:chOff x="0" y="0"/>
            <a:chExt cx="1755233" cy="22832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5233" cy="2283222"/>
            </a:xfrm>
            <a:custGeom>
              <a:avLst/>
              <a:gdLst/>
              <a:ahLst/>
              <a:cxnLst/>
              <a:rect r="r" b="b" t="t" l="l"/>
              <a:pathLst>
                <a:path h="2283222" w="1755233">
                  <a:moveTo>
                    <a:pt x="0" y="0"/>
                  </a:moveTo>
                  <a:lnTo>
                    <a:pt x="1755233" y="0"/>
                  </a:lnTo>
                  <a:lnTo>
                    <a:pt x="1755233" y="2283222"/>
                  </a:lnTo>
                  <a:lnTo>
                    <a:pt x="0" y="2283222"/>
                  </a:lnTo>
                  <a:close/>
                </a:path>
              </a:pathLst>
            </a:custGeom>
            <a:ln w="38100" cap="sq">
              <a:solidFill>
                <a:srgbClr val="4A64B8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755233" cy="2311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50481" y="1107287"/>
            <a:ext cx="1971035" cy="19710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52471" y="1166301"/>
            <a:ext cx="1971035" cy="197103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656217" y="1166301"/>
            <a:ext cx="1971035" cy="197103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329680" y="1481259"/>
            <a:ext cx="1012638" cy="1105062"/>
          </a:xfrm>
          <a:custGeom>
            <a:avLst/>
            <a:gdLst/>
            <a:ahLst/>
            <a:cxnLst/>
            <a:rect r="r" b="b" t="t" l="l"/>
            <a:pathLst>
              <a:path h="1105062" w="1012638">
                <a:moveTo>
                  <a:pt x="0" y="0"/>
                </a:moveTo>
                <a:lnTo>
                  <a:pt x="1012638" y="0"/>
                </a:lnTo>
                <a:lnTo>
                  <a:pt x="1012638" y="1105062"/>
                </a:lnTo>
                <a:lnTo>
                  <a:pt x="0" y="110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-2700000">
            <a:off x="-4025886" y="-7139733"/>
            <a:ext cx="6664400" cy="8669109"/>
            <a:chOff x="0" y="0"/>
            <a:chExt cx="1755233" cy="22832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55233" cy="2283222"/>
            </a:xfrm>
            <a:custGeom>
              <a:avLst/>
              <a:gdLst/>
              <a:ahLst/>
              <a:cxnLst/>
              <a:rect r="r" b="b" t="t" l="l"/>
              <a:pathLst>
                <a:path h="2283222" w="1755233">
                  <a:moveTo>
                    <a:pt x="0" y="0"/>
                  </a:moveTo>
                  <a:lnTo>
                    <a:pt x="1755233" y="0"/>
                  </a:lnTo>
                  <a:lnTo>
                    <a:pt x="1755233" y="2283222"/>
                  </a:lnTo>
                  <a:lnTo>
                    <a:pt x="0" y="2283222"/>
                  </a:lnTo>
                  <a:close/>
                </a:path>
              </a:pathLst>
            </a:custGeom>
            <a:ln w="38100" cap="sq">
              <a:solidFill>
                <a:srgbClr val="4A64B8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755233" cy="2311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43093" y="24244"/>
            <a:ext cx="15630265" cy="100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1"/>
              </a:lnSpc>
            </a:pPr>
            <a:r>
              <a:rPr lang="en-US" b="true" sz="5829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Registros de Grandes Perdas de Doses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1474" y="3223061"/>
            <a:ext cx="4905942" cy="576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199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Entre </a:t>
            </a:r>
            <a:r>
              <a:rPr lang="en-US" sz="3199" b="true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2021 e 2022</a:t>
            </a:r>
            <a:r>
              <a:rPr lang="en-US" sz="3199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, houve perda das seguintes quantidades de doses: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b="true" sz="3199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4 mi. </a:t>
            </a:r>
            <a:r>
              <a:rPr lang="en-US" sz="3199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em 407 municípios de Minas Gerais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b="true" sz="3199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3.5 mi.</a:t>
            </a:r>
            <a:r>
              <a:rPr lang="en-US" sz="3199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 em 203 municípios na Bahia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b="true" sz="3199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2.5 mi.</a:t>
            </a:r>
            <a:r>
              <a:rPr lang="en-US" sz="3199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 em 206 municípios no Rio Grande do Sul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71197" y="3242111"/>
            <a:ext cx="5102161" cy="627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Em </a:t>
            </a:r>
            <a:r>
              <a:rPr lang="en-US" sz="3200" b="true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2022</a:t>
            </a: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, </a:t>
            </a:r>
            <a:r>
              <a:rPr lang="en-US" sz="3200" b="true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100 mil</a:t>
            </a: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 doses de AstraZeneca ficaram retidas, no Rio de Janeiro, mesmo com prazo de validade próximo.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Não foi citada uma estratégia de distribuição dessas doses para locais com demanda imediata.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6766445" y="3242111"/>
            <a:ext cx="4945723" cy="470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No mesmo período, mais de </a:t>
            </a:r>
            <a:r>
              <a:rPr lang="en-US" sz="3200" b="true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28 milhões</a:t>
            </a: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 de doses foram perdidas no Brasil devido ao vencimento do prazo de validade.</a:t>
            </a:r>
          </a:p>
          <a:p>
            <a:pPr algn="l">
              <a:lnSpc>
                <a:spcPts val="4160"/>
              </a:lnSpc>
            </a:pPr>
          </a:p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Prejuízo: </a:t>
            </a:r>
            <a:r>
              <a:rPr lang="en-US" sz="3200" b="true">
                <a:solidFill>
                  <a:srgbClr val="545454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mais de 1 bi.</a:t>
            </a:r>
            <a:r>
              <a:rPr lang="en-US" sz="32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 de reais (Fonte: TCU).</a:t>
            </a:r>
          </a:p>
          <a:p>
            <a:pPr algn="l">
              <a:lnSpc>
                <a:spcPts val="4160"/>
              </a:lnSpc>
            </a:pPr>
          </a:p>
        </p:txBody>
      </p:sp>
      <p:grpSp>
        <p:nvGrpSpPr>
          <p:cNvPr name="Group 40" id="40"/>
          <p:cNvGrpSpPr/>
          <p:nvPr/>
        </p:nvGrpSpPr>
        <p:grpSpPr>
          <a:xfrm rot="-2700000">
            <a:off x="-4025886" y="-7445998"/>
            <a:ext cx="6664400" cy="8669109"/>
            <a:chOff x="0" y="0"/>
            <a:chExt cx="1755233" cy="228322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55233" cy="2283222"/>
            </a:xfrm>
            <a:custGeom>
              <a:avLst/>
              <a:gdLst/>
              <a:ahLst/>
              <a:cxnLst/>
              <a:rect r="r" b="b" t="t" l="l"/>
              <a:pathLst>
                <a:path h="2283222" w="1755233">
                  <a:moveTo>
                    <a:pt x="0" y="0"/>
                  </a:moveTo>
                  <a:lnTo>
                    <a:pt x="1755233" y="0"/>
                  </a:lnTo>
                  <a:lnTo>
                    <a:pt x="1755233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755233" cy="2311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2700000">
            <a:off x="15651243" y="9728189"/>
            <a:ext cx="6664400" cy="8669109"/>
            <a:chOff x="0" y="0"/>
            <a:chExt cx="1755233" cy="22832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55233" cy="2283222"/>
            </a:xfrm>
            <a:custGeom>
              <a:avLst/>
              <a:gdLst/>
              <a:ahLst/>
              <a:cxnLst/>
              <a:rect r="r" b="b" t="t" l="l"/>
              <a:pathLst>
                <a:path h="2283222" w="1755233">
                  <a:moveTo>
                    <a:pt x="0" y="0"/>
                  </a:moveTo>
                  <a:lnTo>
                    <a:pt x="1755233" y="0"/>
                  </a:lnTo>
                  <a:lnTo>
                    <a:pt x="1755233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755233" cy="2311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8732988" y="1599288"/>
            <a:ext cx="1012638" cy="1105062"/>
          </a:xfrm>
          <a:custGeom>
            <a:avLst/>
            <a:gdLst/>
            <a:ahLst/>
            <a:cxnLst/>
            <a:rect r="r" b="b" t="t" l="l"/>
            <a:pathLst>
              <a:path h="1105062" w="1012638">
                <a:moveTo>
                  <a:pt x="0" y="0"/>
                </a:moveTo>
                <a:lnTo>
                  <a:pt x="1012638" y="0"/>
                </a:lnTo>
                <a:lnTo>
                  <a:pt x="1012638" y="1105061"/>
                </a:lnTo>
                <a:lnTo>
                  <a:pt x="0" y="1105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142872" y="1599288"/>
            <a:ext cx="1012638" cy="1105062"/>
          </a:xfrm>
          <a:custGeom>
            <a:avLst/>
            <a:gdLst/>
            <a:ahLst/>
            <a:cxnLst/>
            <a:rect r="r" b="b" t="t" l="l"/>
            <a:pathLst>
              <a:path h="1105062" w="1012638">
                <a:moveTo>
                  <a:pt x="0" y="0"/>
                </a:moveTo>
                <a:lnTo>
                  <a:pt x="1012639" y="0"/>
                </a:lnTo>
                <a:lnTo>
                  <a:pt x="1012639" y="1105061"/>
                </a:lnTo>
                <a:lnTo>
                  <a:pt x="0" y="11050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64754" y="849447"/>
            <a:ext cx="8408853" cy="840885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0" t="-20630" r="0" b="-2933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73012" y="4417496"/>
            <a:ext cx="10105788" cy="10105788"/>
            <a:chOff x="0" y="0"/>
            <a:chExt cx="13474384" cy="1347438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474384" cy="1347438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234732" y="1234732"/>
              <a:ext cx="11004920" cy="11004920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6418106" y="4901325"/>
            <a:ext cx="2871389" cy="5937083"/>
          </a:xfrm>
          <a:custGeom>
            <a:avLst/>
            <a:gdLst/>
            <a:ahLst/>
            <a:cxnLst/>
            <a:rect r="r" b="b" t="t" l="l"/>
            <a:pathLst>
              <a:path h="5937083" w="2871389">
                <a:moveTo>
                  <a:pt x="0" y="0"/>
                </a:moveTo>
                <a:lnTo>
                  <a:pt x="2871389" y="0"/>
                </a:lnTo>
                <a:lnTo>
                  <a:pt x="2871389" y="5937083"/>
                </a:lnTo>
                <a:lnTo>
                  <a:pt x="0" y="5937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44000" y="849447"/>
            <a:ext cx="7062757" cy="8404033"/>
            <a:chOff x="0" y="0"/>
            <a:chExt cx="9417010" cy="1120537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417010" cy="11205378"/>
              <a:chOff x="0" y="0"/>
              <a:chExt cx="2389130" cy="28428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89131" cy="2842846"/>
              </a:xfrm>
              <a:custGeom>
                <a:avLst/>
                <a:gdLst/>
                <a:ahLst/>
                <a:cxnLst/>
                <a:rect r="r" b="b" t="t" l="l"/>
                <a:pathLst>
                  <a:path h="2842846" w="2389131">
                    <a:moveTo>
                      <a:pt x="2264670" y="2842846"/>
                    </a:moveTo>
                    <a:lnTo>
                      <a:pt x="124460" y="2842846"/>
                    </a:lnTo>
                    <a:cubicBezTo>
                      <a:pt x="55880" y="2842846"/>
                      <a:pt x="0" y="2786966"/>
                      <a:pt x="0" y="271838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264670" y="0"/>
                    </a:lnTo>
                    <a:cubicBezTo>
                      <a:pt x="2333250" y="0"/>
                      <a:pt x="2389131" y="55880"/>
                      <a:pt x="2389131" y="124460"/>
                    </a:cubicBezTo>
                    <a:lnTo>
                      <a:pt x="2389131" y="2718386"/>
                    </a:lnTo>
                    <a:cubicBezTo>
                      <a:pt x="2389131" y="2786966"/>
                      <a:pt x="2333250" y="2842846"/>
                      <a:pt x="2264670" y="2842846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997999" y="3530171"/>
              <a:ext cx="8011525" cy="584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atraso da imunidade de grupo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prolongamento da transmissão da doença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favorece o eventual surgimento de novas variantes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perpetua a sobrecarga sobre a infraestrutura hospitalar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perda de vidas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corrói a confiança dos cidadãos nas instituições estatais e nos programas de saúde do governo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97999" y="1153753"/>
              <a:ext cx="7164082" cy="1305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O desperdício de vacinas acarreta: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64754" y="849447"/>
            <a:ext cx="8408853" cy="840885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cubicBezTo>
                    <a:pt x="6350000" y="394970"/>
                    <a:pt x="6350000" y="39497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5955030" y="6351270"/>
                  </a:ln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ubicBezTo>
                    <a:pt x="0" y="5955030"/>
                    <a:pt x="0" y="595503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0" t="-20630" r="0" b="-2933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73012" y="4417496"/>
            <a:ext cx="10105788" cy="10105788"/>
            <a:chOff x="0" y="0"/>
            <a:chExt cx="13474384" cy="1347438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474384" cy="1347438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234732" y="1234732"/>
              <a:ext cx="11004920" cy="11004920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6418106" y="4901325"/>
            <a:ext cx="2871389" cy="5937083"/>
          </a:xfrm>
          <a:custGeom>
            <a:avLst/>
            <a:gdLst/>
            <a:ahLst/>
            <a:cxnLst/>
            <a:rect r="r" b="b" t="t" l="l"/>
            <a:pathLst>
              <a:path h="5937083" w="2871389">
                <a:moveTo>
                  <a:pt x="0" y="0"/>
                </a:moveTo>
                <a:lnTo>
                  <a:pt x="2871389" y="0"/>
                </a:lnTo>
                <a:lnTo>
                  <a:pt x="2871389" y="5937083"/>
                </a:lnTo>
                <a:lnTo>
                  <a:pt x="0" y="5937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26540" y="1727296"/>
            <a:ext cx="7062757" cy="6832408"/>
            <a:chOff x="0" y="0"/>
            <a:chExt cx="9417010" cy="910987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417010" cy="9109878"/>
              <a:chOff x="0" y="0"/>
              <a:chExt cx="2389130" cy="23112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389131" cy="2311210"/>
              </a:xfrm>
              <a:custGeom>
                <a:avLst/>
                <a:gdLst/>
                <a:ahLst/>
                <a:cxnLst/>
                <a:rect r="r" b="b" t="t" l="l"/>
                <a:pathLst>
                  <a:path h="2311210" w="2389131">
                    <a:moveTo>
                      <a:pt x="2264670" y="2311210"/>
                    </a:moveTo>
                    <a:lnTo>
                      <a:pt x="124460" y="2311210"/>
                    </a:lnTo>
                    <a:cubicBezTo>
                      <a:pt x="55880" y="2311210"/>
                      <a:pt x="0" y="2255330"/>
                      <a:pt x="0" y="218675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264670" y="0"/>
                    </a:lnTo>
                    <a:cubicBezTo>
                      <a:pt x="2333250" y="0"/>
                      <a:pt x="2389131" y="55880"/>
                      <a:pt x="2389131" y="124460"/>
                    </a:cubicBezTo>
                    <a:lnTo>
                      <a:pt x="2389131" y="2186750"/>
                    </a:lnTo>
                    <a:cubicBezTo>
                      <a:pt x="2389131" y="2255330"/>
                      <a:pt x="2333250" y="2311210"/>
                      <a:pt x="2264670" y="2311210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997999" y="3320621"/>
              <a:ext cx="7421012" cy="4168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uma falta de logística para a redistribuição de vacinas, que ficam retidas até expirarem seu tempo de validade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torna-se fundamental o desenvolvimento de ferramentas que auxiliem a tomada de decisão na redistribuição, em tempo mínimo, de vacinas entre localidades com diferentes níveis de oferta e demanda, especialmente em cenários de emergência sanitária.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97999" y="1153753"/>
              <a:ext cx="7164082" cy="1305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As estatísticas de desperdício denotam: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10600"/>
            <a:ext cx="18288000" cy="5236410"/>
            <a:chOff x="0" y="0"/>
            <a:chExt cx="6186311" cy="1771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1771329"/>
            </a:xfrm>
            <a:custGeom>
              <a:avLst/>
              <a:gdLst/>
              <a:ahLst/>
              <a:cxnLst/>
              <a:rect r="r" b="b" t="t" l="l"/>
              <a:pathLst>
                <a:path h="1771329" w="6186311">
                  <a:moveTo>
                    <a:pt x="6061851" y="1771329"/>
                  </a:moveTo>
                  <a:lnTo>
                    <a:pt x="124460" y="1771329"/>
                  </a:lnTo>
                  <a:cubicBezTo>
                    <a:pt x="55880" y="1771329"/>
                    <a:pt x="0" y="1715449"/>
                    <a:pt x="0" y="16468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646869"/>
                  </a:lnTo>
                  <a:cubicBezTo>
                    <a:pt x="6186311" y="1715449"/>
                    <a:pt x="6130431" y="1771329"/>
                    <a:pt x="6061851" y="1771329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8015" y="3532626"/>
            <a:ext cx="16611971" cy="4788277"/>
            <a:chOff x="0" y="0"/>
            <a:chExt cx="4074997" cy="11745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4998" cy="1174588"/>
            </a:xfrm>
            <a:custGeom>
              <a:avLst/>
              <a:gdLst/>
              <a:ahLst/>
              <a:cxnLst/>
              <a:rect r="r" b="b" t="t" l="l"/>
              <a:pathLst>
                <a:path h="1174588" w="4074998">
                  <a:moveTo>
                    <a:pt x="3950538" y="1174588"/>
                  </a:moveTo>
                  <a:lnTo>
                    <a:pt x="124460" y="1174588"/>
                  </a:lnTo>
                  <a:cubicBezTo>
                    <a:pt x="55880" y="1174588"/>
                    <a:pt x="0" y="1118708"/>
                    <a:pt x="0" y="105012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950538" y="0"/>
                  </a:lnTo>
                  <a:cubicBezTo>
                    <a:pt x="4019117" y="0"/>
                    <a:pt x="4074998" y="55880"/>
                    <a:pt x="4074998" y="124460"/>
                  </a:cubicBezTo>
                  <a:lnTo>
                    <a:pt x="4074998" y="1050128"/>
                  </a:lnTo>
                  <a:cubicBezTo>
                    <a:pt x="4074998" y="1118708"/>
                    <a:pt x="4019117" y="1174588"/>
                    <a:pt x="3950538" y="1174588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530064" y="7252961"/>
            <a:ext cx="6045421" cy="6045421"/>
            <a:chOff x="0" y="0"/>
            <a:chExt cx="8060561" cy="806056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8060561" cy="806056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738634" y="738634"/>
              <a:ext cx="6583294" cy="658329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5085748" y="1741185"/>
            <a:ext cx="8515733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356">
                <a:solidFill>
                  <a:srgbClr val="F5F5E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OBJETIVO FINAL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3450" y="4779954"/>
            <a:ext cx="12482471" cy="220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Minimizar o tempo de redistribuição de vacinas  de forma a satisfazer a demanda o máximo possível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4203" y="3724275"/>
            <a:ext cx="6819595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Revisão da Literatura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7586" y="4174770"/>
            <a:ext cx="15691469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86188" indent="-993094" lvl="1">
              <a:lnSpc>
                <a:spcPts val="11039"/>
              </a:lnSpc>
              <a:buFont typeface="Arial"/>
              <a:buChar char="•"/>
            </a:pPr>
            <a:r>
              <a:rPr lang="en-US" b="true" sz="91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Fundamentação Teórica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3934" y="1210222"/>
            <a:ext cx="6980131" cy="8842996"/>
          </a:xfrm>
          <a:custGeom>
            <a:avLst/>
            <a:gdLst/>
            <a:ahLst/>
            <a:cxnLst/>
            <a:rect r="r" b="b" t="t" l="l"/>
            <a:pathLst>
              <a:path h="8842996" w="6980131">
                <a:moveTo>
                  <a:pt x="0" y="0"/>
                </a:moveTo>
                <a:lnTo>
                  <a:pt x="6980132" y="0"/>
                </a:lnTo>
                <a:lnTo>
                  <a:pt x="6980132" y="8842996"/>
                </a:lnTo>
                <a:lnTo>
                  <a:pt x="0" y="8842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167274"/>
            <a:ext cx="630153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Fundamentação Teórica</a:t>
            </a:r>
            <a:r>
              <a:rPr lang="en-US" b="true" sz="42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368233" y="3209409"/>
            <a:ext cx="12525735" cy="5718270"/>
          </a:xfrm>
          <a:custGeom>
            <a:avLst/>
            <a:gdLst/>
            <a:ahLst/>
            <a:cxnLst/>
            <a:rect r="r" b="b" t="t" l="l"/>
            <a:pathLst>
              <a:path h="5718270" w="12525735">
                <a:moveTo>
                  <a:pt x="0" y="0"/>
                </a:moveTo>
                <a:lnTo>
                  <a:pt x="12525735" y="0"/>
                </a:lnTo>
                <a:lnTo>
                  <a:pt x="12525735" y="5718271"/>
                </a:lnTo>
                <a:lnTo>
                  <a:pt x="0" y="571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306706"/>
            <a:ext cx="6619201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Fundamentação Teórica: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8106" y="1573664"/>
            <a:ext cx="15545988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 forma geral, um problema de Programação Linear pode ser expresso como: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31322" y="4418108"/>
            <a:ext cx="14680427" cy="4018767"/>
          </a:xfrm>
          <a:custGeom>
            <a:avLst/>
            <a:gdLst/>
            <a:ahLst/>
            <a:cxnLst/>
            <a:rect r="r" b="b" t="t" l="l"/>
            <a:pathLst>
              <a:path h="4018767" w="14680427">
                <a:moveTo>
                  <a:pt x="0" y="0"/>
                </a:moveTo>
                <a:lnTo>
                  <a:pt x="14680427" y="0"/>
                </a:lnTo>
                <a:lnTo>
                  <a:pt x="14680427" y="4018767"/>
                </a:lnTo>
                <a:lnTo>
                  <a:pt x="0" y="4018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312569" y="3188704"/>
            <a:ext cx="9320555" cy="749241"/>
          </a:xfrm>
          <a:custGeom>
            <a:avLst/>
            <a:gdLst/>
            <a:ahLst/>
            <a:cxnLst/>
            <a:rect r="r" b="b" t="t" l="l"/>
            <a:pathLst>
              <a:path h="749241" w="9320555">
                <a:moveTo>
                  <a:pt x="0" y="0"/>
                </a:moveTo>
                <a:lnTo>
                  <a:pt x="9320555" y="0"/>
                </a:lnTo>
                <a:lnTo>
                  <a:pt x="9320555" y="749241"/>
                </a:lnTo>
                <a:lnTo>
                  <a:pt x="0" y="749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306706"/>
            <a:ext cx="6619201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Fundamentação Teórica: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4975" y="1305192"/>
            <a:ext cx="15264152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 forma geral, um problema de Programação Linear Inteira pode ser expresso como: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91626" y="1345634"/>
            <a:ext cx="13188084" cy="2573898"/>
          </a:xfrm>
          <a:custGeom>
            <a:avLst/>
            <a:gdLst/>
            <a:ahLst/>
            <a:cxnLst/>
            <a:rect r="r" b="b" t="t" l="l"/>
            <a:pathLst>
              <a:path h="2573898" w="13188084">
                <a:moveTo>
                  <a:pt x="0" y="0"/>
                </a:moveTo>
                <a:lnTo>
                  <a:pt x="13188084" y="0"/>
                </a:lnTo>
                <a:lnTo>
                  <a:pt x="13188084" y="2573898"/>
                </a:lnTo>
                <a:lnTo>
                  <a:pt x="0" y="2573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708098" y="4414832"/>
            <a:ext cx="7507747" cy="5644397"/>
          </a:xfrm>
          <a:custGeom>
            <a:avLst/>
            <a:gdLst/>
            <a:ahLst/>
            <a:cxnLst/>
            <a:rect r="r" b="b" t="t" l="l"/>
            <a:pathLst>
              <a:path h="5644397" w="7507747">
                <a:moveTo>
                  <a:pt x="0" y="0"/>
                </a:moveTo>
                <a:lnTo>
                  <a:pt x="7507747" y="0"/>
                </a:lnTo>
                <a:lnTo>
                  <a:pt x="7507747" y="5644397"/>
                </a:lnTo>
                <a:lnTo>
                  <a:pt x="0" y="5644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91626" y="133055"/>
            <a:ext cx="6832945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Problema de Transporte: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2882" y="3038323"/>
            <a:ext cx="16806418" cy="3634388"/>
          </a:xfrm>
          <a:custGeom>
            <a:avLst/>
            <a:gdLst/>
            <a:ahLst/>
            <a:cxnLst/>
            <a:rect r="r" b="b" t="t" l="l"/>
            <a:pathLst>
              <a:path h="3634388" w="16806418">
                <a:moveTo>
                  <a:pt x="0" y="0"/>
                </a:moveTo>
                <a:lnTo>
                  <a:pt x="16806418" y="0"/>
                </a:lnTo>
                <a:lnTo>
                  <a:pt x="16806418" y="3634388"/>
                </a:lnTo>
                <a:lnTo>
                  <a:pt x="0" y="3634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1626" y="133055"/>
            <a:ext cx="6832945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Problema de Transporte: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Limitações do Modelo Clássico de Transporte: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678732"/>
            <a:ext cx="12775048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Modelo clássico assume:</a:t>
            </a:r>
          </a:p>
          <a:p>
            <a:pPr algn="l" marL="863609" indent="-431805" lvl="1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Hipótese de divisibilidade das variáveis de decisão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909545"/>
            <a:ext cx="11325608" cy="422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Problemas:</a:t>
            </a:r>
          </a:p>
          <a:p>
            <a:pPr algn="l" marL="863609" indent="-431805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múltiplos tipos de produtos;</a:t>
            </a:r>
          </a:p>
          <a:p>
            <a:pPr algn="l" marL="863609" indent="-431805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adicionais de capacidade;</a:t>
            </a:r>
          </a:p>
          <a:p>
            <a:pPr algn="l" marL="863609" indent="-431805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limitações operacionais;</a:t>
            </a:r>
          </a:p>
          <a:p>
            <a:pPr algn="l" marL="863609" indent="-431805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critérios de prioridade;</a:t>
            </a:r>
          </a:p>
          <a:p>
            <a:pPr algn="l" marL="863609" indent="-431805" lvl="1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tipos diferentes de modais de transporte.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29390"/>
            <a:ext cx="15691469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86188" indent="-993094" lvl="1">
              <a:lnSpc>
                <a:spcPts val="11039"/>
              </a:lnSpc>
              <a:buFont typeface="Arial"/>
              <a:buChar char="•"/>
            </a:pPr>
            <a:r>
              <a:rPr lang="en-US" b="true" sz="91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Trabalhos Correlatos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2649" y="112448"/>
            <a:ext cx="14038902" cy="14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Minimização de Distâncias Para Distribuição de Vacinas com Roteirização de Veículos: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0979" y="2087193"/>
            <a:ext cx="15310049" cy="638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Estudo de caso focado na distribuição física de imunizantes no âmbito de uma Superintendência Regional de Saúde (SRS) localizada em Varginha, Minas Gerais, responsável pelo abastecimento de 50 municípios.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Objetiva minimização da distância percorrida visando diminuir custos financeiros.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Métodos da Varredura e das Economias.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Redução de aproximadamente 86%, em relação ao diagnóstico atual, tanto nas distâncias rodoviárias quanto nos custos de movimentação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69429" y="1701155"/>
            <a:ext cx="14044650" cy="5056074"/>
          </a:xfrm>
          <a:custGeom>
            <a:avLst/>
            <a:gdLst/>
            <a:ahLst/>
            <a:cxnLst/>
            <a:rect r="r" b="b" t="t" l="l"/>
            <a:pathLst>
              <a:path h="5056074" w="14044650">
                <a:moveTo>
                  <a:pt x="0" y="0"/>
                </a:moveTo>
                <a:lnTo>
                  <a:pt x="14044650" y="0"/>
                </a:lnTo>
                <a:lnTo>
                  <a:pt x="14044650" y="5056074"/>
                </a:lnTo>
                <a:lnTo>
                  <a:pt x="0" y="5056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Método da Varredura: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1663" y="7540441"/>
            <a:ext cx="14484673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Dentro de cada agrupamento formado, são aplicados os conceitos do método das economias.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888081" y="5685429"/>
            <a:ext cx="9961013" cy="766232"/>
          </a:xfrm>
          <a:custGeom>
            <a:avLst/>
            <a:gdLst/>
            <a:ahLst/>
            <a:cxnLst/>
            <a:rect r="r" b="b" t="t" l="l"/>
            <a:pathLst>
              <a:path h="766232" w="9961013">
                <a:moveTo>
                  <a:pt x="0" y="0"/>
                </a:moveTo>
                <a:lnTo>
                  <a:pt x="9961013" y="0"/>
                </a:lnTo>
                <a:lnTo>
                  <a:pt x="9961013" y="766232"/>
                </a:lnTo>
                <a:lnTo>
                  <a:pt x="0" y="766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Método das Economias: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175" y="1537758"/>
            <a:ext cx="15351831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Considere um depósito central denotado por D e dois municípios destinos, A e B.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175" y="3113842"/>
            <a:ext cx="16901926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No cenário original ineficiente, realizam-se duas viagens independentes de ida e volta: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91716" y="1660671"/>
            <a:ext cx="14427600" cy="4508625"/>
          </a:xfrm>
          <a:custGeom>
            <a:avLst/>
            <a:gdLst/>
            <a:ahLst/>
            <a:cxnLst/>
            <a:rect r="r" b="b" t="t" l="l"/>
            <a:pathLst>
              <a:path h="4508625" w="14427600">
                <a:moveTo>
                  <a:pt x="0" y="0"/>
                </a:moveTo>
                <a:lnTo>
                  <a:pt x="14427599" y="0"/>
                </a:lnTo>
                <a:lnTo>
                  <a:pt x="14427599" y="4508624"/>
                </a:lnTo>
                <a:lnTo>
                  <a:pt x="0" y="4508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1716" y="6289987"/>
            <a:ext cx="14427600" cy="1623105"/>
          </a:xfrm>
          <a:custGeom>
            <a:avLst/>
            <a:gdLst/>
            <a:ahLst/>
            <a:cxnLst/>
            <a:rect r="r" b="b" t="t" l="l"/>
            <a:pathLst>
              <a:path h="1623105" w="14427600">
                <a:moveTo>
                  <a:pt x="0" y="0"/>
                </a:moveTo>
                <a:lnTo>
                  <a:pt x="14427599" y="0"/>
                </a:lnTo>
                <a:lnTo>
                  <a:pt x="14427599" y="1623105"/>
                </a:lnTo>
                <a:lnTo>
                  <a:pt x="0" y="1623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Método das Economias: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0974" y="4232115"/>
            <a:ext cx="16432007" cy="3245321"/>
          </a:xfrm>
          <a:custGeom>
            <a:avLst/>
            <a:gdLst/>
            <a:ahLst/>
            <a:cxnLst/>
            <a:rect r="r" b="b" t="t" l="l"/>
            <a:pathLst>
              <a:path h="3245321" w="16432007">
                <a:moveTo>
                  <a:pt x="0" y="0"/>
                </a:moveTo>
                <a:lnTo>
                  <a:pt x="16432007" y="0"/>
                </a:lnTo>
                <a:lnTo>
                  <a:pt x="16432007" y="3245322"/>
                </a:lnTo>
                <a:lnTo>
                  <a:pt x="0" y="324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0974" y="3369111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0974" y="189080"/>
            <a:ext cx="14359764" cy="231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algoritmo calcula o valor de Sij para todos os pares de municípios da rede, ordena-os de forma decrescente e vai fundindo as rotas a partir das maiores economias encontradas, respeitando limites (restrições) operacionais pré-estabelecidos.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Limitações do trabalho: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8175" y="1957332"/>
            <a:ext cx="16637221" cy="575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trabalho concentra-se prioritariamente em aspectos puramente econômicos, ao invés da urgência na entrega em um pandemia e a data de expiração das doses de vacina.</a:t>
            </a:r>
          </a:p>
          <a:p>
            <a:pPr algn="l">
              <a:lnSpc>
                <a:spcPts val="4586"/>
              </a:lnSpc>
            </a:pPr>
          </a:p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Limitado geograficamente a um subconjunto de municípios do Estado de Minas Gerais.</a:t>
            </a:r>
          </a:p>
          <a:p>
            <a:pPr algn="l">
              <a:lnSpc>
                <a:spcPts val="4586"/>
              </a:lnSpc>
            </a:pPr>
          </a:p>
          <a:p>
            <a:pPr algn="l" marL="707330" indent="-353665" lvl="1">
              <a:lnSpc>
                <a:spcPts val="4586"/>
              </a:lnSpc>
              <a:buFont typeface="Arial"/>
              <a:buChar char="•"/>
            </a:pPr>
            <a:r>
              <a:rPr lang="en-US" sz="3276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Modelo limitado a somente um modal.</a:t>
            </a:r>
          </a:p>
          <a:p>
            <a:pPr algn="l">
              <a:lnSpc>
                <a:spcPts val="4586"/>
              </a:lnSpc>
            </a:pPr>
          </a:p>
          <a:p>
            <a:pPr algn="l" marL="707330" indent="-353665" lvl="1">
              <a:lnSpc>
                <a:spcPts val="4586"/>
              </a:lnSpc>
              <a:spcBef>
                <a:spcPct val="0"/>
              </a:spcBef>
              <a:buFont typeface="Arial"/>
              <a:buChar char="•"/>
            </a:pPr>
            <a:r>
              <a:rPr lang="en-US" sz="3276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Métodos não garantem a otimalidade global matemática.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2780" y="253365"/>
            <a:ext cx="1403890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Otimização de Distribuição via Clínicas Móveis: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926" y="1955801"/>
            <a:ext cx="16276342" cy="571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51" indent="-388626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Detalha a estratégia da rede CVS Health na distribuição de vacinas contra a COVID-19 para Instituições de Longa Permanência nos Estados Unidos.</a:t>
            </a:r>
          </a:p>
          <a:p>
            <a:pPr algn="l">
              <a:lnSpc>
                <a:spcPts val="5040"/>
              </a:lnSpc>
            </a:pPr>
          </a:p>
          <a:p>
            <a:pPr algn="l" marL="777251" indent="-388626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</a:t>
            </a: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desafio central é levar o imunizante de depósitos de varejo até populações vulneráveis por meio de clínicas móveis, em escala nacional.</a:t>
            </a:r>
          </a:p>
          <a:p>
            <a:pPr algn="l">
              <a:lnSpc>
                <a:spcPts val="5040"/>
              </a:lnSpc>
            </a:pPr>
          </a:p>
          <a:p>
            <a:pPr algn="l" marL="777251" indent="-388626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A</a:t>
            </a: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bordagem de decomposição em dois passos sequenciais: </a:t>
            </a:r>
            <a:r>
              <a:rPr lang="en-US" b="true" sz="36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 problema de atribuição geográfica</a:t>
            </a: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e o </a:t>
            </a:r>
            <a:r>
              <a:rPr lang="en-US" b="true" sz="36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problema de escalonamento temporal</a:t>
            </a:r>
            <a:r>
              <a:rPr lang="en-US" sz="36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57930" y="1594184"/>
            <a:ext cx="14126633" cy="7098633"/>
          </a:xfrm>
          <a:custGeom>
            <a:avLst/>
            <a:gdLst/>
            <a:ahLst/>
            <a:cxnLst/>
            <a:rect r="r" b="b" t="t" l="l"/>
            <a:pathLst>
              <a:path h="7098633" w="14126633">
                <a:moveTo>
                  <a:pt x="0" y="0"/>
                </a:moveTo>
                <a:lnTo>
                  <a:pt x="14126633" y="0"/>
                </a:lnTo>
                <a:lnTo>
                  <a:pt x="14126633" y="7098632"/>
                </a:lnTo>
                <a:lnTo>
                  <a:pt x="0" y="709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48302" y="4865668"/>
            <a:ext cx="13636261" cy="1168822"/>
          </a:xfrm>
          <a:custGeom>
            <a:avLst/>
            <a:gdLst/>
            <a:ahLst/>
            <a:cxnLst/>
            <a:rect r="r" b="b" t="t" l="l"/>
            <a:pathLst>
              <a:path h="1168822" w="13636261">
                <a:moveTo>
                  <a:pt x="0" y="0"/>
                </a:moveTo>
                <a:lnTo>
                  <a:pt x="13636261" y="0"/>
                </a:lnTo>
                <a:lnTo>
                  <a:pt x="13636261" y="1168822"/>
                </a:lnTo>
                <a:lnTo>
                  <a:pt x="0" y="1168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48302" y="6310715"/>
            <a:ext cx="13512391" cy="1067298"/>
          </a:xfrm>
          <a:custGeom>
            <a:avLst/>
            <a:gdLst/>
            <a:ahLst/>
            <a:cxnLst/>
            <a:rect r="r" b="b" t="t" l="l"/>
            <a:pathLst>
              <a:path h="1067298" w="13512391">
                <a:moveTo>
                  <a:pt x="0" y="0"/>
                </a:moveTo>
                <a:lnTo>
                  <a:pt x="13512391" y="0"/>
                </a:lnTo>
                <a:lnTo>
                  <a:pt x="13512391" y="1067298"/>
                </a:lnTo>
                <a:lnTo>
                  <a:pt x="0" y="1067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problema de atribuição geográfica: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10831" y="2526281"/>
            <a:ext cx="9666337" cy="7559408"/>
          </a:xfrm>
          <a:custGeom>
            <a:avLst/>
            <a:gdLst/>
            <a:ahLst/>
            <a:cxnLst/>
            <a:rect r="r" b="b" t="t" l="l"/>
            <a:pathLst>
              <a:path h="7559408" w="9666337">
                <a:moveTo>
                  <a:pt x="0" y="0"/>
                </a:moveTo>
                <a:lnTo>
                  <a:pt x="9666338" y="0"/>
                </a:lnTo>
                <a:lnTo>
                  <a:pt x="9666338" y="7559408"/>
                </a:lnTo>
                <a:lnTo>
                  <a:pt x="0" y="7559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problema de atribuição geográfica: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175" y="1190671"/>
            <a:ext cx="15310049" cy="115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Com isso, o problema de atribuição é trans</a:t>
            </a: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formado em um problema de fluxo de custo mínimo em um grafo: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01928" y="3772971"/>
            <a:ext cx="16684144" cy="2511592"/>
          </a:xfrm>
          <a:custGeom>
            <a:avLst/>
            <a:gdLst/>
            <a:ahLst/>
            <a:cxnLst/>
            <a:rect r="r" b="b" t="t" l="l"/>
            <a:pathLst>
              <a:path h="2511592" w="16684144">
                <a:moveTo>
                  <a:pt x="0" y="0"/>
                </a:moveTo>
                <a:lnTo>
                  <a:pt x="16684144" y="0"/>
                </a:lnTo>
                <a:lnTo>
                  <a:pt x="16684144" y="2511591"/>
                </a:lnTo>
                <a:lnTo>
                  <a:pt x="0" y="2511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problema de atribuição geográfica: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18572" y="1552592"/>
            <a:ext cx="13951289" cy="7293832"/>
          </a:xfrm>
          <a:custGeom>
            <a:avLst/>
            <a:gdLst/>
            <a:ahLst/>
            <a:cxnLst/>
            <a:rect r="r" b="b" t="t" l="l"/>
            <a:pathLst>
              <a:path h="7293832" w="13951289">
                <a:moveTo>
                  <a:pt x="0" y="0"/>
                </a:moveTo>
                <a:lnTo>
                  <a:pt x="13951288" y="0"/>
                </a:lnTo>
                <a:lnTo>
                  <a:pt x="13951288" y="7293832"/>
                </a:lnTo>
                <a:lnTo>
                  <a:pt x="0" y="7293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Problema de escalonamento temporal: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Diferenças com o trabalho: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285" y="1315721"/>
            <a:ext cx="15044222" cy="758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04" indent="-334652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modelo proposto neste TCC não modela uma etapa de agendamento de aplicação das doses, mas somente foca na distribuição das vacinas.</a:t>
            </a:r>
          </a:p>
          <a:p>
            <a:pPr algn="l">
              <a:lnSpc>
                <a:spcPts val="4340"/>
              </a:lnSpc>
            </a:pPr>
          </a:p>
          <a:p>
            <a:pPr algn="l" marL="669304" indent="-334652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A modelagem aqui proposta incorpora a penalidade de perecibilidade diretamente na função objetivo. Isso permite que a própria estrutura matemática priorize rotas não apenas pela distância física, mas pela urgência biológica do lote.</a:t>
            </a:r>
          </a:p>
          <a:p>
            <a:pPr algn="l">
              <a:lnSpc>
                <a:spcPts val="4340"/>
              </a:lnSpc>
            </a:pPr>
          </a:p>
          <a:p>
            <a:pPr algn="l" marL="669304" indent="-334652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modelo aqui proposto integra os níveis intermunicipal, estadual e intramunicipal em uma única matriz de decisão. Isso permite que o sistema identifique em qual etapa está o gargalo temporal.</a:t>
            </a:r>
          </a:p>
          <a:p>
            <a:pPr algn="l">
              <a:lnSpc>
                <a:spcPts val="4340"/>
              </a:lnSpc>
            </a:pPr>
          </a:p>
          <a:p>
            <a:pPr algn="l" marL="669304" indent="-334652" lvl="1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Este TCC não se utiliza de heurísticas para a resolução do modelo, mas sim de um solver exato, garantindo a solução ótima global.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2780" y="253365"/>
            <a:ext cx="14038902" cy="146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de Otimização de Distribuição de Vacinas Pela Minimização da Mortalidade: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3829" y="2494598"/>
            <a:ext cx="16276342" cy="522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Uso de programação linear com o objetivo de otimizar a distribuição de vacinas na Rússia;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Este modelo foca, diretamente, na minimização da mortalidade da população, priorizando grupos populacionais mais vulneráveis.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artigo não especifica o método de solução utilizado para resolver o modelo, apenas alega ter feito uso de métodos de PL.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05194" y="1515910"/>
            <a:ext cx="10298588" cy="6812296"/>
          </a:xfrm>
          <a:custGeom>
            <a:avLst/>
            <a:gdLst/>
            <a:ahLst/>
            <a:cxnLst/>
            <a:rect r="r" b="b" t="t" l="l"/>
            <a:pathLst>
              <a:path h="6812296" w="10298588">
                <a:moveTo>
                  <a:pt x="0" y="0"/>
                </a:moveTo>
                <a:lnTo>
                  <a:pt x="10298588" y="0"/>
                </a:lnTo>
                <a:lnTo>
                  <a:pt x="10298588" y="6812296"/>
                </a:lnTo>
                <a:lnTo>
                  <a:pt x="0" y="6812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Função Objetivo: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47186" y="1617884"/>
            <a:ext cx="13792140" cy="7051231"/>
          </a:xfrm>
          <a:custGeom>
            <a:avLst/>
            <a:gdLst/>
            <a:ahLst/>
            <a:cxnLst/>
            <a:rect r="r" b="b" t="t" l="l"/>
            <a:pathLst>
              <a:path h="7051231" w="13792140">
                <a:moveTo>
                  <a:pt x="0" y="0"/>
                </a:moveTo>
                <a:lnTo>
                  <a:pt x="13792140" y="0"/>
                </a:lnTo>
                <a:lnTo>
                  <a:pt x="13792140" y="7051232"/>
                </a:lnTo>
                <a:lnTo>
                  <a:pt x="0" y="7051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e Cálculo do Parâmetro Si: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1245020"/>
            <a:ext cx="10475082" cy="6808804"/>
          </a:xfrm>
          <a:custGeom>
            <a:avLst/>
            <a:gdLst/>
            <a:ahLst/>
            <a:cxnLst/>
            <a:rect r="r" b="b" t="t" l="l"/>
            <a:pathLst>
              <a:path h="6808804" w="10475082">
                <a:moveTo>
                  <a:pt x="0" y="0"/>
                </a:moveTo>
                <a:lnTo>
                  <a:pt x="10475082" y="0"/>
                </a:lnTo>
                <a:lnTo>
                  <a:pt x="10475082" y="6808803"/>
                </a:lnTo>
                <a:lnTo>
                  <a:pt x="0" y="6808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e Cálculo do Parâmetro Si: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Crítica: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3727" y="2073702"/>
            <a:ext cx="15044222" cy="522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modelo responde à pergunta sobre "quem" deve ser vacinado prioritariamente para minimizar a mortalidade, considerando características do grupo, taxa de transmissão do vírus e a eficácia da vacina para o grupo.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Contudo, o </a:t>
            </a: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modelo não considera que para que haja uma otimização da distribuição de vacinas e uma diminuição da mortalidade é fundamental que haja uma otimização da distribuição das vacinas a nível logístico, considerando as distâncias geográficas, tempos de deslocamento entre localidades ou o modal de transporte utilizado.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2649" y="42529"/>
            <a:ext cx="14562311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Otimização da Distribuição de Vacinas Usando Problema de Roteamento de Veículo com Janelas de Tempo: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7258" y="2143486"/>
            <a:ext cx="16276342" cy="696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Modelagem baseada no Problema de Roteamento de Veículos com Janelas de Tempo (VRPTW) para otimizar a entrega de vacinas em escala regional, considerando restrições de capacidade e janelas de tempo.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VRPTW consiste em encontrar a rota com o menor tempo de forma que cada cliente considerado seja visitado dentro de um intervalo de tempo definido por apenas um veículo.</a:t>
            </a:r>
          </a:p>
          <a:p>
            <a:pPr algn="l">
              <a:lnSpc>
                <a:spcPts val="4620"/>
              </a:lnSpc>
            </a:pP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A</a:t>
            </a: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resolução do modelo é baseada em métodos heurísticos e meta-heurísticos (Algoritmos Genéticos) implementados com o auxílio do Solver do Excel e implementação dos algoritmos de resolução em Python.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05947" y="1603524"/>
            <a:ext cx="14204942" cy="2787720"/>
          </a:xfrm>
          <a:custGeom>
            <a:avLst/>
            <a:gdLst/>
            <a:ahLst/>
            <a:cxnLst/>
            <a:rect r="r" b="b" t="t" l="l"/>
            <a:pathLst>
              <a:path h="2787720" w="14204942">
                <a:moveTo>
                  <a:pt x="0" y="0"/>
                </a:moveTo>
                <a:lnTo>
                  <a:pt x="14204941" y="0"/>
                </a:lnTo>
                <a:lnTo>
                  <a:pt x="14204941" y="2787720"/>
                </a:lnTo>
                <a:lnTo>
                  <a:pt x="0" y="2787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55720" y="5143500"/>
            <a:ext cx="14976559" cy="3463329"/>
          </a:xfrm>
          <a:custGeom>
            <a:avLst/>
            <a:gdLst/>
            <a:ahLst/>
            <a:cxnLst/>
            <a:rect r="r" b="b" t="t" l="l"/>
            <a:pathLst>
              <a:path h="3463329" w="14976559">
                <a:moveTo>
                  <a:pt x="0" y="0"/>
                </a:moveTo>
                <a:lnTo>
                  <a:pt x="14976560" y="0"/>
                </a:lnTo>
                <a:lnTo>
                  <a:pt x="14976560" y="3463329"/>
                </a:lnTo>
                <a:lnTo>
                  <a:pt x="0" y="346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Função Objetivo: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34927" y="2128531"/>
            <a:ext cx="15086849" cy="6125751"/>
          </a:xfrm>
          <a:custGeom>
            <a:avLst/>
            <a:gdLst/>
            <a:ahLst/>
            <a:cxnLst/>
            <a:rect r="r" b="b" t="t" l="l"/>
            <a:pathLst>
              <a:path h="6125751" w="15086849">
                <a:moveTo>
                  <a:pt x="0" y="0"/>
                </a:moveTo>
                <a:lnTo>
                  <a:pt x="15086849" y="0"/>
                </a:lnTo>
                <a:lnTo>
                  <a:pt x="15086849" y="6125751"/>
                </a:lnTo>
                <a:lnTo>
                  <a:pt x="0" y="6125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Retrições: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97753" y="1696012"/>
            <a:ext cx="14090583" cy="3078040"/>
          </a:xfrm>
          <a:custGeom>
            <a:avLst/>
            <a:gdLst/>
            <a:ahLst/>
            <a:cxnLst/>
            <a:rect r="r" b="b" t="t" l="l"/>
            <a:pathLst>
              <a:path h="3078040" w="14090583">
                <a:moveTo>
                  <a:pt x="0" y="0"/>
                </a:moveTo>
                <a:lnTo>
                  <a:pt x="14090583" y="0"/>
                </a:lnTo>
                <a:lnTo>
                  <a:pt x="14090583" y="3078040"/>
                </a:lnTo>
                <a:lnTo>
                  <a:pt x="0" y="3078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1335" y="5799335"/>
            <a:ext cx="14643419" cy="2496037"/>
          </a:xfrm>
          <a:custGeom>
            <a:avLst/>
            <a:gdLst/>
            <a:ahLst/>
            <a:cxnLst/>
            <a:rect r="r" b="b" t="t" l="l"/>
            <a:pathLst>
              <a:path h="2496037" w="14643419">
                <a:moveTo>
                  <a:pt x="0" y="0"/>
                </a:moveTo>
                <a:lnTo>
                  <a:pt x="14643419" y="0"/>
                </a:lnTo>
                <a:lnTo>
                  <a:pt x="14643419" y="2496037"/>
                </a:lnTo>
                <a:lnTo>
                  <a:pt x="0" y="2496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Retrições: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608649" y="1215805"/>
            <a:ext cx="12825911" cy="5114332"/>
          </a:xfrm>
          <a:custGeom>
            <a:avLst/>
            <a:gdLst/>
            <a:ahLst/>
            <a:cxnLst/>
            <a:rect r="r" b="b" t="t" l="l"/>
            <a:pathLst>
              <a:path h="5114332" w="12825911">
                <a:moveTo>
                  <a:pt x="0" y="0"/>
                </a:moveTo>
                <a:lnTo>
                  <a:pt x="12825911" y="0"/>
                </a:lnTo>
                <a:lnTo>
                  <a:pt x="12825911" y="5114332"/>
                </a:lnTo>
                <a:lnTo>
                  <a:pt x="0" y="5114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608649" y="6427492"/>
            <a:ext cx="12825911" cy="2998057"/>
          </a:xfrm>
          <a:custGeom>
            <a:avLst/>
            <a:gdLst/>
            <a:ahLst/>
            <a:cxnLst/>
            <a:rect r="r" b="b" t="t" l="l"/>
            <a:pathLst>
              <a:path h="2998057" w="12825911">
                <a:moveTo>
                  <a:pt x="0" y="0"/>
                </a:moveTo>
                <a:lnTo>
                  <a:pt x="12825911" y="0"/>
                </a:lnTo>
                <a:lnTo>
                  <a:pt x="12825911" y="2998056"/>
                </a:lnTo>
                <a:lnTo>
                  <a:pt x="0" y="2998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Retrições: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175" y="129274"/>
            <a:ext cx="11325608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Críticas e Diferenças: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580" y="2275933"/>
            <a:ext cx="16276342" cy="638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Tais métodos de resolução (heurísticos e meta-heurísticos), embora eficazes para encontrar soluções satisfatórias rapidamente, não são exatos, pois não garantem a otimalidade global do resultado e podem apresentar limitações em cenários de alta complexidade combinatória.</a:t>
            </a:r>
          </a:p>
          <a:p>
            <a:pPr algn="l" marL="712483" indent="-356241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presente trabalho diferencia-se e evolui em relação a esta abordagem em dois pilares: escala e método de resolução. Enquanto o artigo foca na micro-logística regional de municípios de Portugal, este modelo é capaz de lidar com municípios de Estados diferentes e integra diferentes modais de transporte. Além disso, optou-se pelo uso do solver Gurobi integrado ao Python, garantindo a solução ótima global para o problema.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8298" y="3024188"/>
            <a:ext cx="8231404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Logística da Distribuição de Vacinas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731" y="5132303"/>
            <a:ext cx="8865396" cy="2998745"/>
            <a:chOff x="0" y="0"/>
            <a:chExt cx="11820528" cy="39983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820528" cy="3998326"/>
              <a:chOff x="0" y="0"/>
              <a:chExt cx="2998912" cy="10143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998912" cy="1014390"/>
              </a:xfrm>
              <a:custGeom>
                <a:avLst/>
                <a:gdLst/>
                <a:ahLst/>
                <a:cxnLst/>
                <a:rect r="r" b="b" t="t" l="l"/>
                <a:pathLst>
                  <a:path h="1014390" w="2998912">
                    <a:moveTo>
                      <a:pt x="2874452" y="1014390"/>
                    </a:moveTo>
                    <a:lnTo>
                      <a:pt x="124460" y="1014390"/>
                    </a:lnTo>
                    <a:cubicBezTo>
                      <a:pt x="55880" y="1014390"/>
                      <a:pt x="0" y="958510"/>
                      <a:pt x="0" y="8899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74452" y="0"/>
                    </a:lnTo>
                    <a:cubicBezTo>
                      <a:pt x="2943032" y="0"/>
                      <a:pt x="2998912" y="55880"/>
                      <a:pt x="2998912" y="124460"/>
                    </a:cubicBezTo>
                    <a:lnTo>
                      <a:pt x="2998912" y="889930"/>
                    </a:lnTo>
                    <a:cubicBezTo>
                      <a:pt x="2998912" y="958510"/>
                      <a:pt x="2943032" y="1014390"/>
                      <a:pt x="2874452" y="1014390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763964" y="1114078"/>
              <a:ext cx="10241711" cy="1684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Ferramenta principal:</a:t>
              </a:r>
            </a:p>
            <a:p>
              <a:pPr algn="l" marL="798820" indent="-399410" lvl="1">
                <a:lnSpc>
                  <a:spcPts val="51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SIPNI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61553" y="4354508"/>
            <a:ext cx="7479715" cy="4554335"/>
            <a:chOff x="0" y="0"/>
            <a:chExt cx="2752153" cy="1675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2153" cy="1675762"/>
            </a:xfrm>
            <a:custGeom>
              <a:avLst/>
              <a:gdLst/>
              <a:ahLst/>
              <a:cxnLst/>
              <a:rect r="r" b="b" t="t" l="l"/>
              <a:pathLst>
                <a:path h="1675762" w="2752153">
                  <a:moveTo>
                    <a:pt x="2627693" y="1675762"/>
                  </a:moveTo>
                  <a:lnTo>
                    <a:pt x="124460" y="1675762"/>
                  </a:lnTo>
                  <a:cubicBezTo>
                    <a:pt x="55880" y="1675762"/>
                    <a:pt x="0" y="1619882"/>
                    <a:pt x="0" y="15513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7693" y="0"/>
                  </a:lnTo>
                  <a:cubicBezTo>
                    <a:pt x="2696273" y="0"/>
                    <a:pt x="2752153" y="55880"/>
                    <a:pt x="2752153" y="124460"/>
                  </a:cubicBezTo>
                  <a:lnTo>
                    <a:pt x="2752153" y="1551303"/>
                  </a:lnTo>
                  <a:cubicBezTo>
                    <a:pt x="2752153" y="1619882"/>
                    <a:pt x="2696273" y="1675762"/>
                    <a:pt x="2627693" y="1675762"/>
                  </a:cubicBezTo>
                  <a:close/>
                </a:path>
              </a:pathLst>
            </a:custGeom>
            <a:solidFill>
              <a:srgbClr val="1629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24157" y="5731589"/>
            <a:ext cx="6354509" cy="3177254"/>
            <a:chOff x="0" y="0"/>
            <a:chExt cx="8472678" cy="4236339"/>
          </a:xfrm>
        </p:grpSpPr>
        <p:sp>
          <p:nvSpPr>
            <p:cNvPr name="Freeform 9" id="9"/>
            <p:cNvSpPr/>
            <p:nvPr/>
          </p:nvSpPr>
          <p:spPr>
            <a:xfrm flipH="false" flipV="false" rot="-10800000">
              <a:off x="0" y="0"/>
              <a:ext cx="8472678" cy="4236339"/>
            </a:xfrm>
            <a:custGeom>
              <a:avLst/>
              <a:gdLst/>
              <a:ahLst/>
              <a:cxnLst/>
              <a:rect r="r" b="b" t="t" l="l"/>
              <a:pathLst>
                <a:path h="4236339" w="8472678">
                  <a:moveTo>
                    <a:pt x="0" y="0"/>
                  </a:moveTo>
                  <a:lnTo>
                    <a:pt x="8472678" y="0"/>
                  </a:lnTo>
                  <a:lnTo>
                    <a:pt x="8472678" y="4236339"/>
                  </a:lnTo>
                  <a:lnTo>
                    <a:pt x="0" y="423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0800000">
              <a:off x="884291" y="884291"/>
              <a:ext cx="6704097" cy="3352049"/>
            </a:xfrm>
            <a:custGeom>
              <a:avLst/>
              <a:gdLst/>
              <a:ahLst/>
              <a:cxnLst/>
              <a:rect r="r" b="b" t="t" l="l"/>
              <a:pathLst>
                <a:path h="3352049" w="6704097">
                  <a:moveTo>
                    <a:pt x="0" y="0"/>
                  </a:moveTo>
                  <a:lnTo>
                    <a:pt x="6704097" y="0"/>
                  </a:lnTo>
                  <a:lnTo>
                    <a:pt x="6704097" y="3352048"/>
                  </a:lnTo>
                  <a:lnTo>
                    <a:pt x="0" y="335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356270" y="3231859"/>
            <a:ext cx="4711597" cy="5670834"/>
          </a:xfrm>
          <a:custGeom>
            <a:avLst/>
            <a:gdLst/>
            <a:ahLst/>
            <a:cxnLst/>
            <a:rect r="r" b="b" t="t" l="l"/>
            <a:pathLst>
              <a:path h="5670834" w="4711597">
                <a:moveTo>
                  <a:pt x="0" y="0"/>
                </a:moveTo>
                <a:lnTo>
                  <a:pt x="4711597" y="0"/>
                </a:lnTo>
                <a:lnTo>
                  <a:pt x="4711597" y="5670834"/>
                </a:lnTo>
                <a:lnTo>
                  <a:pt x="0" y="567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337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713767"/>
            <a:ext cx="8261463" cy="225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Monitoramentos de Estoques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09687" y="1000125"/>
            <a:ext cx="40496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400" spc="15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ARAICO PHARMACEUTICAL</a:t>
            </a:r>
            <a:r>
              <a:rPr lang="en-US" b="true" sz="1400" spc="151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rPr>
              <a:t> | VACCINES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6474984" y="799694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6972214" y="759751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0108517" y="-5762255"/>
            <a:ext cx="6664400" cy="8669109"/>
            <a:chOff x="0" y="0"/>
            <a:chExt cx="1755233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5233" cy="2283222"/>
            </a:xfrm>
            <a:custGeom>
              <a:avLst/>
              <a:gdLst/>
              <a:ahLst/>
              <a:cxnLst/>
              <a:rect r="r" b="b" t="t" l="l"/>
              <a:pathLst>
                <a:path h="2283222" w="1755233">
                  <a:moveTo>
                    <a:pt x="0" y="0"/>
                  </a:moveTo>
                  <a:lnTo>
                    <a:pt x="1755233" y="0"/>
                  </a:lnTo>
                  <a:lnTo>
                    <a:pt x="1755233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55233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3724411" y="-4475353"/>
            <a:ext cx="9738014" cy="21037266"/>
            <a:chOff x="0" y="0"/>
            <a:chExt cx="2564744" cy="5540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4744" cy="5540679"/>
            </a:xfrm>
            <a:custGeom>
              <a:avLst/>
              <a:gdLst/>
              <a:ahLst/>
              <a:cxnLst/>
              <a:rect r="r" b="b" t="t" l="l"/>
              <a:pathLst>
                <a:path h="5540679" w="2564744">
                  <a:moveTo>
                    <a:pt x="0" y="0"/>
                  </a:moveTo>
                  <a:lnTo>
                    <a:pt x="2564744" y="0"/>
                  </a:lnTo>
                  <a:lnTo>
                    <a:pt x="2564744" y="5540679"/>
                  </a:lnTo>
                  <a:lnTo>
                    <a:pt x="0" y="5540679"/>
                  </a:lnTo>
                  <a:close/>
                </a:path>
              </a:pathLst>
            </a:custGeom>
            <a:solidFill>
              <a:srgbClr val="EEEEEE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564744" cy="5578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8100000">
            <a:off x="-2884698" y="7518019"/>
            <a:ext cx="11929395" cy="514338"/>
          </a:xfrm>
          <a:custGeom>
            <a:avLst/>
            <a:gdLst/>
            <a:ahLst/>
            <a:cxnLst/>
            <a:rect r="r" b="b" t="t" l="l"/>
            <a:pathLst>
              <a:path h="514338" w="11929395">
                <a:moveTo>
                  <a:pt x="0" y="0"/>
                </a:moveTo>
                <a:lnTo>
                  <a:pt x="11929396" y="0"/>
                </a:lnTo>
                <a:lnTo>
                  <a:pt x="11929396" y="514337"/>
                </a:lnTo>
                <a:lnTo>
                  <a:pt x="0" y="51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2804" t="0" r="-2804" b="-38377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-8100000">
            <a:off x="6802116" y="2714655"/>
            <a:ext cx="11929395" cy="514338"/>
          </a:xfrm>
          <a:custGeom>
            <a:avLst/>
            <a:gdLst/>
            <a:ahLst/>
            <a:cxnLst/>
            <a:rect r="r" b="b" t="t" l="l"/>
            <a:pathLst>
              <a:path h="514338" w="11929395">
                <a:moveTo>
                  <a:pt x="0" y="514338"/>
                </a:moveTo>
                <a:lnTo>
                  <a:pt x="11929395" y="514338"/>
                </a:lnTo>
                <a:lnTo>
                  <a:pt x="11929395" y="0"/>
                </a:lnTo>
                <a:lnTo>
                  <a:pt x="0" y="0"/>
                </a:lnTo>
                <a:lnTo>
                  <a:pt x="0" y="514338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2804" t="0" r="-2804" b="-38377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6240" y="1700324"/>
            <a:ext cx="10623274" cy="285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9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Primeiramente, ocorre a distribuição de vacinas pelo Ministério da Saúde a partir do CENADI, localizado em São Paulo/SP. Desse centro, os lotes são enviados para o INCQS, para que seja comprovada a qualidade dos produtos. A partir daí, ocorre a distribuição proporcional para cada estado, em depósitos estaduais em até 48 horas.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6240" y="1217089"/>
            <a:ext cx="7557058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199" b="true">
                <a:solidFill>
                  <a:srgbClr val="4686C8"/>
                </a:solidFill>
                <a:latin typeface="Jannah Medium"/>
                <a:ea typeface="Jannah Medium"/>
                <a:cs typeface="Jannah Medium"/>
                <a:sym typeface="Jannah Medium"/>
              </a:rPr>
              <a:t>Primeiro Passo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7675" y="7342773"/>
            <a:ext cx="7557058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4686C8"/>
                </a:solidFill>
                <a:latin typeface="Jannah Medium"/>
                <a:ea typeface="Jannah Medium"/>
                <a:cs typeface="Jannah Medium"/>
                <a:sym typeface="Jannah Medium"/>
              </a:rPr>
              <a:t>Terceiro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80000" y="5465078"/>
            <a:ext cx="11884129" cy="190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9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Em seguida, é de de responsabilidade dos estados seguir com a distribuição para os municípios. Dependendo do estado, pode haver um intermerdiário entre o depósito estadual e os municípios, por meio de SRS’s.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57675" y="7885978"/>
            <a:ext cx="11545867" cy="238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</a:pPr>
            <a:r>
              <a:rPr lang="en-US" sz="2900">
                <a:solidFill>
                  <a:srgbClr val="545454"/>
                </a:solidFill>
                <a:latin typeface="Josefin Sans"/>
                <a:ea typeface="Josefin Sans"/>
                <a:cs typeface="Josefin Sans"/>
                <a:sym typeface="Josefin Sans"/>
              </a:rPr>
              <a:t>A distribuição aos municípios deve ser realizada em até 7 dias e cada município define a estratégia de distribuição aos postos de saúde a partir de uma Central Municipal de Rede de Frio. São gastos em média são gastos 30 minutos, desde a chegada do caminhão, conferência das vacinas e armazenagem na câmara fria.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0011" y="247271"/>
            <a:ext cx="9253028" cy="74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Etapas da Distribuição de Vacinas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80000" y="4991368"/>
            <a:ext cx="7557058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4686C8"/>
                </a:solidFill>
                <a:latin typeface="Jannah Medium"/>
                <a:ea typeface="Jannah Medium"/>
                <a:cs typeface="Jannah Medium"/>
                <a:sym typeface="Jannah Medium"/>
              </a:rPr>
              <a:t>Segundo  Passo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88189" y="1296727"/>
            <a:ext cx="7693546" cy="7693546"/>
            <a:chOff x="0" y="0"/>
            <a:chExt cx="10258062" cy="1025806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258062" cy="10258062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40003" y="940003"/>
              <a:ext cx="8378056" cy="837805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5813412" y="739464"/>
            <a:ext cx="6661177" cy="19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Modais de Transporte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818605" y="1296727"/>
            <a:ext cx="7693546" cy="7693546"/>
            <a:chOff x="0" y="0"/>
            <a:chExt cx="10258062" cy="1025806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258062" cy="10258062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40003" y="940003"/>
              <a:ext cx="8378056" cy="8378056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-101383">
            <a:off x="8524983" y="2271002"/>
            <a:ext cx="11263330" cy="5188564"/>
          </a:xfrm>
          <a:custGeom>
            <a:avLst/>
            <a:gdLst/>
            <a:ahLst/>
            <a:cxnLst/>
            <a:rect r="r" b="b" t="t" l="l"/>
            <a:pathLst>
              <a:path h="5188564" w="11263330">
                <a:moveTo>
                  <a:pt x="0" y="0"/>
                </a:moveTo>
                <a:lnTo>
                  <a:pt x="11263329" y="0"/>
                </a:lnTo>
                <a:lnTo>
                  <a:pt x="11263329" y="5188564"/>
                </a:lnTo>
                <a:lnTo>
                  <a:pt x="0" y="51885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15740" y="1719480"/>
            <a:ext cx="8388810" cy="6291607"/>
          </a:xfrm>
          <a:custGeom>
            <a:avLst/>
            <a:gdLst/>
            <a:ahLst/>
            <a:cxnLst/>
            <a:rect r="r" b="b" t="t" l="l"/>
            <a:pathLst>
              <a:path h="6291607" w="8388810">
                <a:moveTo>
                  <a:pt x="0" y="0"/>
                </a:moveTo>
                <a:lnTo>
                  <a:pt x="8388810" y="0"/>
                </a:lnTo>
                <a:lnTo>
                  <a:pt x="8388810" y="6291608"/>
                </a:lnTo>
                <a:lnTo>
                  <a:pt x="0" y="6291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082194" y="3433542"/>
            <a:ext cx="6123611" cy="5174440"/>
            <a:chOff x="0" y="0"/>
            <a:chExt cx="8164815" cy="689925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439214" cy="4756282"/>
              <a:chOff x="0" y="0"/>
              <a:chExt cx="1633652" cy="12066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33653" cy="1206687"/>
              </a:xfrm>
              <a:custGeom>
                <a:avLst/>
                <a:gdLst/>
                <a:ahLst/>
                <a:cxnLst/>
                <a:rect r="r" b="b" t="t" l="l"/>
                <a:pathLst>
                  <a:path h="1206687" w="1633653">
                    <a:moveTo>
                      <a:pt x="1509192" y="1206686"/>
                    </a:moveTo>
                    <a:lnTo>
                      <a:pt x="124460" y="1206686"/>
                    </a:lnTo>
                    <a:cubicBezTo>
                      <a:pt x="55880" y="1206686"/>
                      <a:pt x="0" y="1150806"/>
                      <a:pt x="0" y="108222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1082226"/>
                    </a:lnTo>
                    <a:cubicBezTo>
                      <a:pt x="1633653" y="1150806"/>
                      <a:pt x="1577772" y="1206687"/>
                      <a:pt x="1509193" y="1206687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8164815" cy="6899254"/>
              <a:chOff x="0" y="0"/>
              <a:chExt cx="1633652" cy="138043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33653" cy="1380433"/>
              </a:xfrm>
              <a:custGeom>
                <a:avLst/>
                <a:gdLst/>
                <a:ahLst/>
                <a:cxnLst/>
                <a:rect r="r" b="b" t="t" l="l"/>
                <a:pathLst>
                  <a:path h="1380433" w="1633653">
                    <a:moveTo>
                      <a:pt x="1509192" y="1380433"/>
                    </a:moveTo>
                    <a:lnTo>
                      <a:pt x="124460" y="1380433"/>
                    </a:lnTo>
                    <a:cubicBezTo>
                      <a:pt x="55880" y="1380433"/>
                      <a:pt x="0" y="1324553"/>
                      <a:pt x="0" y="1255973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1255973"/>
                    </a:lnTo>
                    <a:cubicBezTo>
                      <a:pt x="1633653" y="1324553"/>
                      <a:pt x="1577772" y="1380433"/>
                      <a:pt x="1509193" y="1380433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3704" y="406327"/>
              <a:ext cx="6714745" cy="676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Requistos dos Veículos: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3704" y="1603937"/>
              <a:ext cx="521162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41852" y="1594412"/>
              <a:ext cx="7481111" cy="46365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Autorizações AFE e AE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Sistema de Controle de Temperatura</a:t>
              </a:r>
            </a:p>
            <a:p>
              <a:pPr algn="l">
                <a:lnSpc>
                  <a:spcPts val="3499"/>
                </a:lnSpc>
              </a:pPr>
            </a:p>
            <a:p>
              <a:pPr algn="l" marL="539746" indent="-269873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Tecnologia</a:t>
              </a:r>
              <a:r>
                <a:rPr lang="en-US" sz="2499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 de Monitoramento da Temperatura (sensores e dataloggers)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3412" y="4424362"/>
            <a:ext cx="666117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Modelagem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37045" y="4799437"/>
            <a:ext cx="14213910" cy="369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Dois Modelos:</a:t>
            </a:r>
          </a:p>
          <a:p>
            <a:pPr algn="l" marL="906788" indent="-453394" lvl="1">
              <a:lnSpc>
                <a:spcPts val="5880"/>
              </a:lnSpc>
              <a:buFont typeface="Arial"/>
              <a:buChar char="•"/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de Redistribuição Sem Intermediação Estadual (ou Modelo 1)</a:t>
            </a:r>
          </a:p>
          <a:p>
            <a:pPr algn="l" marL="906788" indent="-453394" lvl="1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de Redistribuição Com Intermediação Estadual (ou Modelo 2)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68052" y="944243"/>
            <a:ext cx="11840632" cy="364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9"/>
              </a:lnSpc>
            </a:pPr>
            <a:r>
              <a:rPr lang="en-US" sz="2978">
                <a:solidFill>
                  <a:srgbClr val="4A64B8"/>
                </a:solidFill>
                <a:latin typeface="Open Sans"/>
                <a:ea typeface="Open Sans"/>
                <a:cs typeface="Open Sans"/>
                <a:sym typeface="Open Sans"/>
              </a:rPr>
              <a:t>O modelo começa depois da primeira alocação realizada pelo Ministério da Saúde. Dessa forma, o problema abordado concentra-se na redistribuição eficiente de vacinas entre municípios, considerando desequilíbrios locais de oferta e demanda.</a:t>
            </a:r>
          </a:p>
          <a:p>
            <a:pPr algn="l">
              <a:lnSpc>
                <a:spcPts val="4169"/>
              </a:lnSpc>
            </a:pPr>
          </a:p>
          <a:p>
            <a:pPr algn="ctr">
              <a:lnSpc>
                <a:spcPts val="4169"/>
              </a:lnSpc>
              <a:spcBef>
                <a:spcPct val="0"/>
              </a:spcBef>
            </a:pPr>
            <a:r>
              <a:rPr lang="en-US" b="true" sz="2978">
                <a:solidFill>
                  <a:srgbClr val="4A64B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7586" y="3474683"/>
            <a:ext cx="15691469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86188" indent="-993094" lvl="1">
              <a:lnSpc>
                <a:spcPts val="11039"/>
              </a:lnSpc>
              <a:buFont typeface="Arial"/>
              <a:buChar char="•"/>
            </a:pPr>
            <a:r>
              <a:rPr lang="en-US" b="true" sz="91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Sem Intermediação Estadual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1536937"/>
            <a:ext cx="11056035" cy="2429691"/>
          </a:xfrm>
          <a:custGeom>
            <a:avLst/>
            <a:gdLst/>
            <a:ahLst/>
            <a:cxnLst/>
            <a:rect r="r" b="b" t="t" l="l"/>
            <a:pathLst>
              <a:path h="2429691" w="11056035">
                <a:moveTo>
                  <a:pt x="0" y="0"/>
                </a:moveTo>
                <a:lnTo>
                  <a:pt x="11056034" y="0"/>
                </a:lnTo>
                <a:lnTo>
                  <a:pt x="11056034" y="2429691"/>
                </a:lnTo>
                <a:lnTo>
                  <a:pt x="0" y="242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74355" y="5898297"/>
            <a:ext cx="6361778" cy="604444"/>
          </a:xfrm>
          <a:custGeom>
            <a:avLst/>
            <a:gdLst/>
            <a:ahLst/>
            <a:cxnLst/>
            <a:rect r="r" b="b" t="t" l="l"/>
            <a:pathLst>
              <a:path h="604444" w="6361778">
                <a:moveTo>
                  <a:pt x="0" y="0"/>
                </a:moveTo>
                <a:lnTo>
                  <a:pt x="6361778" y="0"/>
                </a:lnTo>
                <a:lnTo>
                  <a:pt x="6361778" y="604444"/>
                </a:lnTo>
                <a:lnTo>
                  <a:pt x="0" y="604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374355" y="7490863"/>
            <a:ext cx="5553915" cy="684293"/>
          </a:xfrm>
          <a:custGeom>
            <a:avLst/>
            <a:gdLst/>
            <a:ahLst/>
            <a:cxnLst/>
            <a:rect r="r" b="b" t="t" l="l"/>
            <a:pathLst>
              <a:path h="684293" w="5553915">
                <a:moveTo>
                  <a:pt x="0" y="0"/>
                </a:moveTo>
                <a:lnTo>
                  <a:pt x="5553915" y="0"/>
                </a:lnTo>
                <a:lnTo>
                  <a:pt x="5553915" y="684294"/>
                </a:lnTo>
                <a:lnTo>
                  <a:pt x="0" y="684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374355" y="6708313"/>
            <a:ext cx="6361778" cy="573001"/>
          </a:xfrm>
          <a:custGeom>
            <a:avLst/>
            <a:gdLst/>
            <a:ahLst/>
            <a:cxnLst/>
            <a:rect r="r" b="b" t="t" l="l"/>
            <a:pathLst>
              <a:path h="573001" w="6361778">
                <a:moveTo>
                  <a:pt x="0" y="0"/>
                </a:moveTo>
                <a:lnTo>
                  <a:pt x="6361778" y="0"/>
                </a:lnTo>
                <a:lnTo>
                  <a:pt x="6361778" y="573000"/>
                </a:lnTo>
                <a:lnTo>
                  <a:pt x="0" y="573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5471" y="182060"/>
            <a:ext cx="5128885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Fluxo do Modelo 1: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4795303"/>
            <a:ext cx="5769591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Variáveis de Decisão: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61564" y="8844229"/>
            <a:ext cx="13535857" cy="129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  <a:spcBef>
                <a:spcPct val="0"/>
              </a:spcBef>
            </a:pPr>
            <a:r>
              <a:rPr lang="en-US" sz="3727">
                <a:solidFill>
                  <a:srgbClr val="4A64B8"/>
                </a:solidFill>
                <a:latin typeface="Open Sans"/>
                <a:ea typeface="Open Sans"/>
                <a:cs typeface="Open Sans"/>
                <a:sym typeface="Open Sans"/>
              </a:rPr>
              <a:t>Valores das variáveis devem ser números inteiros e não-negativos. Logo, se trata de Problema de Otimização Inteira.</a:t>
            </a:r>
            <a:r>
              <a:rPr lang="en-US" b="true" sz="3727">
                <a:solidFill>
                  <a:srgbClr val="4A64B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479175" y="4918862"/>
            <a:ext cx="1270794" cy="576093"/>
          </a:xfrm>
          <a:custGeom>
            <a:avLst/>
            <a:gdLst/>
            <a:ahLst/>
            <a:cxnLst/>
            <a:rect r="r" b="b" t="t" l="l"/>
            <a:pathLst>
              <a:path h="576093" w="1270794">
                <a:moveTo>
                  <a:pt x="0" y="0"/>
                </a:moveTo>
                <a:lnTo>
                  <a:pt x="1270794" y="0"/>
                </a:lnTo>
                <a:lnTo>
                  <a:pt x="1270794" y="576093"/>
                </a:lnTo>
                <a:lnTo>
                  <a:pt x="0" y="576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167094" y="1456983"/>
            <a:ext cx="6314815" cy="851127"/>
          </a:xfrm>
          <a:custGeom>
            <a:avLst/>
            <a:gdLst/>
            <a:ahLst/>
            <a:cxnLst/>
            <a:rect r="r" b="b" t="t" l="l"/>
            <a:pathLst>
              <a:path h="851127" w="6314815">
                <a:moveTo>
                  <a:pt x="0" y="0"/>
                </a:moveTo>
                <a:lnTo>
                  <a:pt x="6314815" y="0"/>
                </a:lnTo>
                <a:lnTo>
                  <a:pt x="6314815" y="851128"/>
                </a:lnTo>
                <a:lnTo>
                  <a:pt x="0" y="851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693248" y="3221092"/>
            <a:ext cx="4842648" cy="783369"/>
          </a:xfrm>
          <a:custGeom>
            <a:avLst/>
            <a:gdLst/>
            <a:ahLst/>
            <a:cxnLst/>
            <a:rect r="r" b="b" t="t" l="l"/>
            <a:pathLst>
              <a:path h="783369" w="4842648">
                <a:moveTo>
                  <a:pt x="0" y="0"/>
                </a:moveTo>
                <a:lnTo>
                  <a:pt x="4842648" y="0"/>
                </a:lnTo>
                <a:lnTo>
                  <a:pt x="4842648" y="783370"/>
                </a:lnTo>
                <a:lnTo>
                  <a:pt x="0" y="783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13702" y="6578463"/>
            <a:ext cx="12185897" cy="2930333"/>
          </a:xfrm>
          <a:custGeom>
            <a:avLst/>
            <a:gdLst/>
            <a:ahLst/>
            <a:cxnLst/>
            <a:rect r="r" b="b" t="t" l="l"/>
            <a:pathLst>
              <a:path h="2930333" w="12185897">
                <a:moveTo>
                  <a:pt x="0" y="0"/>
                </a:moveTo>
                <a:lnTo>
                  <a:pt x="12185897" y="0"/>
                </a:lnTo>
                <a:lnTo>
                  <a:pt x="12185897" y="2930333"/>
                </a:lnTo>
                <a:lnTo>
                  <a:pt x="0" y="29303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60783" y="1418364"/>
            <a:ext cx="13851922" cy="5315675"/>
          </a:xfrm>
          <a:custGeom>
            <a:avLst/>
            <a:gdLst/>
            <a:ahLst/>
            <a:cxnLst/>
            <a:rect r="r" b="b" t="t" l="l"/>
            <a:pathLst>
              <a:path h="5315675" w="13851922">
                <a:moveTo>
                  <a:pt x="0" y="0"/>
                </a:moveTo>
                <a:lnTo>
                  <a:pt x="13851922" y="0"/>
                </a:lnTo>
                <a:lnTo>
                  <a:pt x="13851922" y="5315674"/>
                </a:lnTo>
                <a:lnTo>
                  <a:pt x="0" y="531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32960" y="7932846"/>
            <a:ext cx="3507568" cy="756219"/>
          </a:xfrm>
          <a:custGeom>
            <a:avLst/>
            <a:gdLst/>
            <a:ahLst/>
            <a:cxnLst/>
            <a:rect r="r" b="b" t="t" l="l"/>
            <a:pathLst>
              <a:path h="756219" w="3507568">
                <a:moveTo>
                  <a:pt x="0" y="0"/>
                </a:moveTo>
                <a:lnTo>
                  <a:pt x="3507568" y="0"/>
                </a:lnTo>
                <a:lnTo>
                  <a:pt x="3507568" y="756219"/>
                </a:lnTo>
                <a:lnTo>
                  <a:pt x="0" y="75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959170" y="935571"/>
            <a:ext cx="6035324" cy="754415"/>
          </a:xfrm>
          <a:custGeom>
            <a:avLst/>
            <a:gdLst/>
            <a:ahLst/>
            <a:cxnLst/>
            <a:rect r="r" b="b" t="t" l="l"/>
            <a:pathLst>
              <a:path h="754415" w="6035324">
                <a:moveTo>
                  <a:pt x="0" y="0"/>
                </a:moveTo>
                <a:lnTo>
                  <a:pt x="6035324" y="0"/>
                </a:lnTo>
                <a:lnTo>
                  <a:pt x="6035324" y="754416"/>
                </a:lnTo>
                <a:lnTo>
                  <a:pt x="0" y="754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87744" y="2254124"/>
            <a:ext cx="4578177" cy="672873"/>
          </a:xfrm>
          <a:custGeom>
            <a:avLst/>
            <a:gdLst/>
            <a:ahLst/>
            <a:cxnLst/>
            <a:rect r="r" b="b" t="t" l="l"/>
            <a:pathLst>
              <a:path h="672873" w="4578177">
                <a:moveTo>
                  <a:pt x="0" y="0"/>
                </a:moveTo>
                <a:lnTo>
                  <a:pt x="4578176" y="0"/>
                </a:lnTo>
                <a:lnTo>
                  <a:pt x="4578176" y="672874"/>
                </a:lnTo>
                <a:lnTo>
                  <a:pt x="0" y="672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237338" y="3772971"/>
            <a:ext cx="5681545" cy="2295574"/>
          </a:xfrm>
          <a:custGeom>
            <a:avLst/>
            <a:gdLst/>
            <a:ahLst/>
            <a:cxnLst/>
            <a:rect r="r" b="b" t="t" l="l"/>
            <a:pathLst>
              <a:path h="2295574" w="5681545">
                <a:moveTo>
                  <a:pt x="0" y="0"/>
                </a:moveTo>
                <a:lnTo>
                  <a:pt x="5681546" y="0"/>
                </a:lnTo>
                <a:lnTo>
                  <a:pt x="5681546" y="2295574"/>
                </a:lnTo>
                <a:lnTo>
                  <a:pt x="0" y="2295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783886" y="6605276"/>
            <a:ext cx="11402293" cy="3376314"/>
          </a:xfrm>
          <a:custGeom>
            <a:avLst/>
            <a:gdLst/>
            <a:ahLst/>
            <a:cxnLst/>
            <a:rect r="r" b="b" t="t" l="l"/>
            <a:pathLst>
              <a:path h="3376314" w="11402293">
                <a:moveTo>
                  <a:pt x="0" y="0"/>
                </a:moveTo>
                <a:lnTo>
                  <a:pt x="11402293" y="0"/>
                </a:lnTo>
                <a:lnTo>
                  <a:pt x="11402293" y="3376313"/>
                </a:lnTo>
                <a:lnTo>
                  <a:pt x="0" y="3376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415375" y="1849679"/>
            <a:ext cx="4652006" cy="3846584"/>
          </a:xfrm>
          <a:custGeom>
            <a:avLst/>
            <a:gdLst/>
            <a:ahLst/>
            <a:cxnLst/>
            <a:rect r="r" b="b" t="t" l="l"/>
            <a:pathLst>
              <a:path h="3846584" w="4652006">
                <a:moveTo>
                  <a:pt x="0" y="0"/>
                </a:moveTo>
                <a:lnTo>
                  <a:pt x="4652006" y="0"/>
                </a:lnTo>
                <a:lnTo>
                  <a:pt x="4652006" y="3846584"/>
                </a:lnTo>
                <a:lnTo>
                  <a:pt x="0" y="3846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67120" y="6795546"/>
            <a:ext cx="11163501" cy="2462754"/>
          </a:xfrm>
          <a:custGeom>
            <a:avLst/>
            <a:gdLst/>
            <a:ahLst/>
            <a:cxnLst/>
            <a:rect r="r" b="b" t="t" l="l"/>
            <a:pathLst>
              <a:path h="2462754" w="11163501">
                <a:moveTo>
                  <a:pt x="0" y="0"/>
                </a:moveTo>
                <a:lnTo>
                  <a:pt x="11163502" y="0"/>
                </a:lnTo>
                <a:lnTo>
                  <a:pt x="11163502" y="2462754"/>
                </a:lnTo>
                <a:lnTo>
                  <a:pt x="0" y="2462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78292" y="2113617"/>
            <a:ext cx="14966717" cy="1216046"/>
          </a:xfrm>
          <a:custGeom>
            <a:avLst/>
            <a:gdLst/>
            <a:ahLst/>
            <a:cxnLst/>
            <a:rect r="r" b="b" t="t" l="l"/>
            <a:pathLst>
              <a:path h="1216046" w="14966717">
                <a:moveTo>
                  <a:pt x="0" y="0"/>
                </a:moveTo>
                <a:lnTo>
                  <a:pt x="14966717" y="0"/>
                </a:lnTo>
                <a:lnTo>
                  <a:pt x="14966717" y="1216046"/>
                </a:lnTo>
                <a:lnTo>
                  <a:pt x="0" y="1216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8292" y="6634807"/>
            <a:ext cx="16081008" cy="1185974"/>
          </a:xfrm>
          <a:custGeom>
            <a:avLst/>
            <a:gdLst/>
            <a:ahLst/>
            <a:cxnLst/>
            <a:rect r="r" b="b" t="t" l="l"/>
            <a:pathLst>
              <a:path h="1185974" w="16081008">
                <a:moveTo>
                  <a:pt x="0" y="0"/>
                </a:moveTo>
                <a:lnTo>
                  <a:pt x="16081008" y="0"/>
                </a:lnTo>
                <a:lnTo>
                  <a:pt x="16081008" y="1185975"/>
                </a:lnTo>
                <a:lnTo>
                  <a:pt x="0" y="1185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Função objetivo: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703138"/>
            <a:ext cx="1099293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ou com o fator de penalidade por expiração: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22053" y="2054967"/>
            <a:ext cx="7316822" cy="1361651"/>
          </a:xfrm>
          <a:custGeom>
            <a:avLst/>
            <a:gdLst/>
            <a:ahLst/>
            <a:cxnLst/>
            <a:rect r="r" b="b" t="t" l="l"/>
            <a:pathLst>
              <a:path h="1361651" w="7316822">
                <a:moveTo>
                  <a:pt x="0" y="0"/>
                </a:moveTo>
                <a:lnTo>
                  <a:pt x="7316822" y="0"/>
                </a:lnTo>
                <a:lnTo>
                  <a:pt x="7316822" y="1361651"/>
                </a:lnTo>
                <a:lnTo>
                  <a:pt x="0" y="1361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5471" y="4973566"/>
            <a:ext cx="7159606" cy="1215468"/>
          </a:xfrm>
          <a:custGeom>
            <a:avLst/>
            <a:gdLst/>
            <a:ahLst/>
            <a:cxnLst/>
            <a:rect r="r" b="b" t="t" l="l"/>
            <a:pathLst>
              <a:path h="1215468" w="7159606">
                <a:moveTo>
                  <a:pt x="0" y="0"/>
                </a:moveTo>
                <a:lnTo>
                  <a:pt x="7159606" y="0"/>
                </a:lnTo>
                <a:lnTo>
                  <a:pt x="7159606" y="1215469"/>
                </a:lnTo>
                <a:lnTo>
                  <a:pt x="0" y="1215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87365" y="7749202"/>
            <a:ext cx="10202810" cy="783246"/>
          </a:xfrm>
          <a:custGeom>
            <a:avLst/>
            <a:gdLst/>
            <a:ahLst/>
            <a:cxnLst/>
            <a:rect r="r" b="b" t="t" l="l"/>
            <a:pathLst>
              <a:path h="783246" w="10202810">
                <a:moveTo>
                  <a:pt x="0" y="0"/>
                </a:moveTo>
                <a:lnTo>
                  <a:pt x="10202810" y="0"/>
                </a:lnTo>
                <a:lnTo>
                  <a:pt x="10202810" y="783246"/>
                </a:lnTo>
                <a:lnTo>
                  <a:pt x="0" y="783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7469986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 Intermunicipais: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253828"/>
            <a:ext cx="1099293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Oferta: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4026218"/>
            <a:ext cx="1338853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Capacidade Agregada (Intermunicipal):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71" y="6798608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Integralidade e Não-negatividade: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2267810"/>
            <a:ext cx="10666589" cy="799126"/>
          </a:xfrm>
          <a:custGeom>
            <a:avLst/>
            <a:gdLst/>
            <a:ahLst/>
            <a:cxnLst/>
            <a:rect r="r" b="b" t="t" l="l"/>
            <a:pathLst>
              <a:path h="799126" w="10666589">
                <a:moveTo>
                  <a:pt x="0" y="0"/>
                </a:moveTo>
                <a:lnTo>
                  <a:pt x="10666588" y="0"/>
                </a:lnTo>
                <a:lnTo>
                  <a:pt x="10666588" y="799126"/>
                </a:lnTo>
                <a:lnTo>
                  <a:pt x="0" y="799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5471" y="4895849"/>
            <a:ext cx="6318849" cy="1025058"/>
          </a:xfrm>
          <a:custGeom>
            <a:avLst/>
            <a:gdLst/>
            <a:ahLst/>
            <a:cxnLst/>
            <a:rect r="r" b="b" t="t" l="l"/>
            <a:pathLst>
              <a:path h="1025058" w="6318849">
                <a:moveTo>
                  <a:pt x="0" y="0"/>
                </a:moveTo>
                <a:lnTo>
                  <a:pt x="6318849" y="0"/>
                </a:lnTo>
                <a:lnTo>
                  <a:pt x="6318849" y="1025058"/>
                </a:lnTo>
                <a:lnTo>
                  <a:pt x="0" y="1025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13595" y="7673002"/>
            <a:ext cx="10949405" cy="887310"/>
          </a:xfrm>
          <a:custGeom>
            <a:avLst/>
            <a:gdLst/>
            <a:ahLst/>
            <a:cxnLst/>
            <a:rect r="r" b="b" t="t" l="l"/>
            <a:pathLst>
              <a:path h="887310" w="10949405">
                <a:moveTo>
                  <a:pt x="0" y="0"/>
                </a:moveTo>
                <a:lnTo>
                  <a:pt x="10949405" y="0"/>
                </a:lnTo>
                <a:lnTo>
                  <a:pt x="10949405" y="887310"/>
                </a:lnTo>
                <a:lnTo>
                  <a:pt x="0" y="88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686538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 Intramunicipais: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253828"/>
            <a:ext cx="1099293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Demanda: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4026218"/>
            <a:ext cx="1421391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Capacidade Agregada (Intramunicipal):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71" y="6798608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Integralidade e Não-negatividade: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01733" y="2865546"/>
            <a:ext cx="11147147" cy="592933"/>
          </a:xfrm>
          <a:custGeom>
            <a:avLst/>
            <a:gdLst/>
            <a:ahLst/>
            <a:cxnLst/>
            <a:rect r="r" b="b" t="t" l="l"/>
            <a:pathLst>
              <a:path h="592933" w="11147147">
                <a:moveTo>
                  <a:pt x="0" y="0"/>
                </a:moveTo>
                <a:lnTo>
                  <a:pt x="11147147" y="0"/>
                </a:lnTo>
                <a:lnTo>
                  <a:pt x="11147147" y="592934"/>
                </a:lnTo>
                <a:lnTo>
                  <a:pt x="0" y="59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1733" y="3696605"/>
            <a:ext cx="11234623" cy="605718"/>
          </a:xfrm>
          <a:custGeom>
            <a:avLst/>
            <a:gdLst/>
            <a:ahLst/>
            <a:cxnLst/>
            <a:rect r="r" b="b" t="t" l="l"/>
            <a:pathLst>
              <a:path h="605718" w="11234623">
                <a:moveTo>
                  <a:pt x="0" y="0"/>
                </a:moveTo>
                <a:lnTo>
                  <a:pt x="11234623" y="0"/>
                </a:lnTo>
                <a:lnTo>
                  <a:pt x="11234623" y="605718"/>
                </a:lnTo>
                <a:lnTo>
                  <a:pt x="0" y="60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1733" y="6068545"/>
            <a:ext cx="11234623" cy="1297967"/>
          </a:xfrm>
          <a:custGeom>
            <a:avLst/>
            <a:gdLst/>
            <a:ahLst/>
            <a:cxnLst/>
            <a:rect r="r" b="b" t="t" l="l"/>
            <a:pathLst>
              <a:path h="1297967" w="11234623">
                <a:moveTo>
                  <a:pt x="0" y="0"/>
                </a:moveTo>
                <a:lnTo>
                  <a:pt x="11234623" y="0"/>
                </a:lnTo>
                <a:lnTo>
                  <a:pt x="11234623" y="1297966"/>
                </a:lnTo>
                <a:lnTo>
                  <a:pt x="0" y="1297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686538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 Globais: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733" y="1905427"/>
            <a:ext cx="1173778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de Viabilidade Temporal: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5106322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Conservação e Disponibilidade de Estoque: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756155" y="4592872"/>
            <a:ext cx="12091233" cy="827903"/>
          </a:xfrm>
          <a:custGeom>
            <a:avLst/>
            <a:gdLst/>
            <a:ahLst/>
            <a:cxnLst/>
            <a:rect r="r" b="b" t="t" l="l"/>
            <a:pathLst>
              <a:path h="827903" w="12091233">
                <a:moveTo>
                  <a:pt x="0" y="0"/>
                </a:moveTo>
                <a:lnTo>
                  <a:pt x="12091232" y="0"/>
                </a:lnTo>
                <a:lnTo>
                  <a:pt x="12091232" y="827902"/>
                </a:lnTo>
                <a:lnTo>
                  <a:pt x="0" y="827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182060"/>
            <a:ext cx="980452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Tempo do Processo de Redistribuição: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7586" y="3474683"/>
            <a:ext cx="15691469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86188" indent="-993094" lvl="1">
              <a:lnSpc>
                <a:spcPts val="11039"/>
              </a:lnSpc>
              <a:buFont typeface="Arial"/>
              <a:buChar char="•"/>
            </a:pPr>
            <a:r>
              <a:rPr lang="en-US" b="true" sz="9199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Com Intermediação Estadual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1361339"/>
            <a:ext cx="10790400" cy="2148089"/>
          </a:xfrm>
          <a:custGeom>
            <a:avLst/>
            <a:gdLst/>
            <a:ahLst/>
            <a:cxnLst/>
            <a:rect r="r" b="b" t="t" l="l"/>
            <a:pathLst>
              <a:path h="2148089" w="10790400">
                <a:moveTo>
                  <a:pt x="0" y="0"/>
                </a:moveTo>
                <a:lnTo>
                  <a:pt x="10790400" y="0"/>
                </a:lnTo>
                <a:lnTo>
                  <a:pt x="10790400" y="2148089"/>
                </a:lnTo>
                <a:lnTo>
                  <a:pt x="0" y="2148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843056" y="5395273"/>
            <a:ext cx="9422680" cy="1862336"/>
          </a:xfrm>
          <a:custGeom>
            <a:avLst/>
            <a:gdLst/>
            <a:ahLst/>
            <a:cxnLst/>
            <a:rect r="r" b="b" t="t" l="l"/>
            <a:pathLst>
              <a:path h="1862336" w="9422680">
                <a:moveTo>
                  <a:pt x="0" y="0"/>
                </a:moveTo>
                <a:lnTo>
                  <a:pt x="9422680" y="0"/>
                </a:lnTo>
                <a:lnTo>
                  <a:pt x="9422680" y="1862336"/>
                </a:lnTo>
                <a:lnTo>
                  <a:pt x="0" y="1862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843056" y="7630884"/>
            <a:ext cx="9882636" cy="1929899"/>
          </a:xfrm>
          <a:custGeom>
            <a:avLst/>
            <a:gdLst/>
            <a:ahLst/>
            <a:cxnLst/>
            <a:rect r="r" b="b" t="t" l="l"/>
            <a:pathLst>
              <a:path h="1929899" w="9882636">
                <a:moveTo>
                  <a:pt x="0" y="0"/>
                </a:moveTo>
                <a:lnTo>
                  <a:pt x="9882635" y="0"/>
                </a:lnTo>
                <a:lnTo>
                  <a:pt x="9882635" y="1929899"/>
                </a:lnTo>
                <a:lnTo>
                  <a:pt x="0" y="1929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5003639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Fluxo do Modelo 2: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4300003"/>
            <a:ext cx="5769591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Variáveis de Decisão: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1028700"/>
            <a:ext cx="8898529" cy="1771467"/>
          </a:xfrm>
          <a:custGeom>
            <a:avLst/>
            <a:gdLst/>
            <a:ahLst/>
            <a:cxnLst/>
            <a:rect r="r" b="b" t="t" l="l"/>
            <a:pathLst>
              <a:path h="1771467" w="8898529">
                <a:moveTo>
                  <a:pt x="0" y="0"/>
                </a:moveTo>
                <a:lnTo>
                  <a:pt x="8898529" y="0"/>
                </a:lnTo>
                <a:lnTo>
                  <a:pt x="8898529" y="1771467"/>
                </a:lnTo>
                <a:lnTo>
                  <a:pt x="0" y="1771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7605" y="4401360"/>
            <a:ext cx="8032016" cy="1587480"/>
          </a:xfrm>
          <a:custGeom>
            <a:avLst/>
            <a:gdLst/>
            <a:ahLst/>
            <a:cxnLst/>
            <a:rect r="r" b="b" t="t" l="l"/>
            <a:pathLst>
              <a:path h="1587480" w="8032016">
                <a:moveTo>
                  <a:pt x="0" y="0"/>
                </a:moveTo>
                <a:lnTo>
                  <a:pt x="8032017" y="0"/>
                </a:lnTo>
                <a:lnTo>
                  <a:pt x="8032017" y="1587480"/>
                </a:lnTo>
                <a:lnTo>
                  <a:pt x="0" y="1587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7605" y="6285898"/>
            <a:ext cx="8032016" cy="1568506"/>
          </a:xfrm>
          <a:custGeom>
            <a:avLst/>
            <a:gdLst/>
            <a:ahLst/>
            <a:cxnLst/>
            <a:rect r="r" b="b" t="t" l="l"/>
            <a:pathLst>
              <a:path h="1568506" w="8032016">
                <a:moveTo>
                  <a:pt x="0" y="0"/>
                </a:moveTo>
                <a:lnTo>
                  <a:pt x="8032017" y="0"/>
                </a:lnTo>
                <a:lnTo>
                  <a:pt x="8032017" y="1568506"/>
                </a:lnTo>
                <a:lnTo>
                  <a:pt x="0" y="1568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71255" y="4232115"/>
            <a:ext cx="6588685" cy="4357961"/>
          </a:xfrm>
          <a:custGeom>
            <a:avLst/>
            <a:gdLst/>
            <a:ahLst/>
            <a:cxnLst/>
            <a:rect r="r" b="b" t="t" l="l"/>
            <a:pathLst>
              <a:path h="4357961" w="6588685">
                <a:moveTo>
                  <a:pt x="0" y="0"/>
                </a:moveTo>
                <a:lnTo>
                  <a:pt x="6588685" y="0"/>
                </a:lnTo>
                <a:lnTo>
                  <a:pt x="6588685" y="4357961"/>
                </a:lnTo>
                <a:lnTo>
                  <a:pt x="0" y="4357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5471" y="182060"/>
            <a:ext cx="273917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 2: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3510121"/>
            <a:ext cx="5769591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Variáveis de Decisão: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450879" y="2446330"/>
            <a:ext cx="8997953" cy="852706"/>
          </a:xfrm>
          <a:custGeom>
            <a:avLst/>
            <a:gdLst/>
            <a:ahLst/>
            <a:cxnLst/>
            <a:rect r="r" b="b" t="t" l="l"/>
            <a:pathLst>
              <a:path h="852706" w="8997953">
                <a:moveTo>
                  <a:pt x="0" y="0"/>
                </a:moveTo>
                <a:lnTo>
                  <a:pt x="8997953" y="0"/>
                </a:lnTo>
                <a:lnTo>
                  <a:pt x="8997953" y="852706"/>
                </a:lnTo>
                <a:lnTo>
                  <a:pt x="0" y="852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94160" y="4841312"/>
            <a:ext cx="14639155" cy="3882359"/>
          </a:xfrm>
          <a:custGeom>
            <a:avLst/>
            <a:gdLst/>
            <a:ahLst/>
            <a:cxnLst/>
            <a:rect r="r" b="b" t="t" l="l"/>
            <a:pathLst>
              <a:path h="3882359" w="14639155">
                <a:moveTo>
                  <a:pt x="0" y="0"/>
                </a:moveTo>
                <a:lnTo>
                  <a:pt x="14639155" y="0"/>
                </a:lnTo>
                <a:lnTo>
                  <a:pt x="14639155" y="3882359"/>
                </a:lnTo>
                <a:lnTo>
                  <a:pt x="0" y="388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82060"/>
            <a:ext cx="8536936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Novos Parâmetros de Entrada: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114063" y="1892576"/>
            <a:ext cx="13859122" cy="6950560"/>
          </a:xfrm>
          <a:custGeom>
            <a:avLst/>
            <a:gdLst/>
            <a:ahLst/>
            <a:cxnLst/>
            <a:rect r="r" b="b" t="t" l="l"/>
            <a:pathLst>
              <a:path h="6950560" w="13859122">
                <a:moveTo>
                  <a:pt x="0" y="0"/>
                </a:moveTo>
                <a:lnTo>
                  <a:pt x="13859122" y="0"/>
                </a:lnTo>
                <a:lnTo>
                  <a:pt x="13859122" y="6950560"/>
                </a:lnTo>
                <a:lnTo>
                  <a:pt x="0" y="6950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386829" y="1506828"/>
            <a:ext cx="5514342" cy="898101"/>
          </a:xfrm>
          <a:custGeom>
            <a:avLst/>
            <a:gdLst/>
            <a:ahLst/>
            <a:cxnLst/>
            <a:rect r="r" b="b" t="t" l="l"/>
            <a:pathLst>
              <a:path h="898101" w="5514342">
                <a:moveTo>
                  <a:pt x="0" y="0"/>
                </a:moveTo>
                <a:lnTo>
                  <a:pt x="5514342" y="0"/>
                </a:lnTo>
                <a:lnTo>
                  <a:pt x="5514342" y="898102"/>
                </a:lnTo>
                <a:lnTo>
                  <a:pt x="0" y="898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386829" y="6002734"/>
            <a:ext cx="5234859" cy="956368"/>
          </a:xfrm>
          <a:custGeom>
            <a:avLst/>
            <a:gdLst/>
            <a:ahLst/>
            <a:cxnLst/>
            <a:rect r="r" b="b" t="t" l="l"/>
            <a:pathLst>
              <a:path h="956368" w="5234859">
                <a:moveTo>
                  <a:pt x="0" y="0"/>
                </a:moveTo>
                <a:lnTo>
                  <a:pt x="5234859" y="0"/>
                </a:lnTo>
                <a:lnTo>
                  <a:pt x="5234859" y="956368"/>
                </a:lnTo>
                <a:lnTo>
                  <a:pt x="0" y="956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755075" y="7800547"/>
            <a:ext cx="11598461" cy="1971738"/>
          </a:xfrm>
          <a:custGeom>
            <a:avLst/>
            <a:gdLst/>
            <a:ahLst/>
            <a:cxnLst/>
            <a:rect r="r" b="b" t="t" l="l"/>
            <a:pathLst>
              <a:path h="1971738" w="11598461">
                <a:moveTo>
                  <a:pt x="0" y="0"/>
                </a:moveTo>
                <a:lnTo>
                  <a:pt x="11598461" y="0"/>
                </a:lnTo>
                <a:lnTo>
                  <a:pt x="11598461" y="1971738"/>
                </a:lnTo>
                <a:lnTo>
                  <a:pt x="0" y="1971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755075" y="3153034"/>
            <a:ext cx="11033200" cy="2048169"/>
          </a:xfrm>
          <a:custGeom>
            <a:avLst/>
            <a:gdLst/>
            <a:ahLst/>
            <a:cxnLst/>
            <a:rect r="r" b="b" t="t" l="l"/>
            <a:pathLst>
              <a:path h="2048169" w="11033200">
                <a:moveTo>
                  <a:pt x="0" y="0"/>
                </a:moveTo>
                <a:lnTo>
                  <a:pt x="11033200" y="0"/>
                </a:lnTo>
                <a:lnTo>
                  <a:pt x="11033200" y="2048169"/>
                </a:lnTo>
                <a:lnTo>
                  <a:pt x="0" y="2048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3265071"/>
            <a:ext cx="10979652" cy="2361720"/>
          </a:xfrm>
          <a:custGeom>
            <a:avLst/>
            <a:gdLst/>
            <a:ahLst/>
            <a:cxnLst/>
            <a:rect r="r" b="b" t="t" l="l"/>
            <a:pathLst>
              <a:path h="2361720" w="10979652">
                <a:moveTo>
                  <a:pt x="0" y="0"/>
                </a:moveTo>
                <a:lnTo>
                  <a:pt x="10979652" y="0"/>
                </a:lnTo>
                <a:lnTo>
                  <a:pt x="10979652" y="2361720"/>
                </a:lnTo>
                <a:lnTo>
                  <a:pt x="0" y="2361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4031" y="6068545"/>
            <a:ext cx="9398300" cy="1010761"/>
          </a:xfrm>
          <a:custGeom>
            <a:avLst/>
            <a:gdLst/>
            <a:ahLst/>
            <a:cxnLst/>
            <a:rect r="r" b="b" t="t" l="l"/>
            <a:pathLst>
              <a:path h="1010761" w="9398300">
                <a:moveTo>
                  <a:pt x="0" y="0"/>
                </a:moveTo>
                <a:lnTo>
                  <a:pt x="9398300" y="0"/>
                </a:lnTo>
                <a:lnTo>
                  <a:pt x="9398300" y="1010760"/>
                </a:lnTo>
                <a:lnTo>
                  <a:pt x="0" y="1010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4031" y="1426252"/>
            <a:ext cx="14972529" cy="1038719"/>
          </a:xfrm>
          <a:custGeom>
            <a:avLst/>
            <a:gdLst/>
            <a:ahLst/>
            <a:cxnLst/>
            <a:rect r="r" b="b" t="t" l="l"/>
            <a:pathLst>
              <a:path h="1038719" w="14972529">
                <a:moveTo>
                  <a:pt x="0" y="0"/>
                </a:moveTo>
                <a:lnTo>
                  <a:pt x="14972529" y="0"/>
                </a:lnTo>
                <a:lnTo>
                  <a:pt x="14972529" y="1038719"/>
                </a:lnTo>
                <a:lnTo>
                  <a:pt x="0" y="1038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Parâmetros de Entrada: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2288952"/>
            <a:ext cx="16000476" cy="980029"/>
          </a:xfrm>
          <a:custGeom>
            <a:avLst/>
            <a:gdLst/>
            <a:ahLst/>
            <a:cxnLst/>
            <a:rect r="r" b="b" t="t" l="l"/>
            <a:pathLst>
              <a:path h="980029" w="16000476">
                <a:moveTo>
                  <a:pt x="0" y="0"/>
                </a:moveTo>
                <a:lnTo>
                  <a:pt x="16000475" y="0"/>
                </a:lnTo>
                <a:lnTo>
                  <a:pt x="16000475" y="980029"/>
                </a:lnTo>
                <a:lnTo>
                  <a:pt x="0" y="980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5471" y="6377917"/>
            <a:ext cx="17614470" cy="1012832"/>
          </a:xfrm>
          <a:custGeom>
            <a:avLst/>
            <a:gdLst/>
            <a:ahLst/>
            <a:cxnLst/>
            <a:rect r="r" b="b" t="t" l="l"/>
            <a:pathLst>
              <a:path h="1012832" w="17614470">
                <a:moveTo>
                  <a:pt x="0" y="0"/>
                </a:moveTo>
                <a:lnTo>
                  <a:pt x="17614469" y="0"/>
                </a:lnTo>
                <a:lnTo>
                  <a:pt x="17614469" y="1012832"/>
                </a:lnTo>
                <a:lnTo>
                  <a:pt x="0" y="1012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82060"/>
            <a:ext cx="6443300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Função objetivo: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471" y="4421506"/>
            <a:ext cx="11053325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ou com o fator de penalidade por expiração: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5471" y="2118124"/>
            <a:ext cx="12995835" cy="779750"/>
          </a:xfrm>
          <a:custGeom>
            <a:avLst/>
            <a:gdLst/>
            <a:ahLst/>
            <a:cxnLst/>
            <a:rect r="r" b="b" t="t" l="l"/>
            <a:pathLst>
              <a:path h="779750" w="12995835">
                <a:moveTo>
                  <a:pt x="0" y="0"/>
                </a:moveTo>
                <a:lnTo>
                  <a:pt x="12995835" y="0"/>
                </a:lnTo>
                <a:lnTo>
                  <a:pt x="12995835" y="779750"/>
                </a:lnTo>
                <a:lnTo>
                  <a:pt x="0" y="77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5471" y="4788312"/>
            <a:ext cx="8731842" cy="1280232"/>
          </a:xfrm>
          <a:custGeom>
            <a:avLst/>
            <a:gdLst/>
            <a:ahLst/>
            <a:cxnLst/>
            <a:rect r="r" b="b" t="t" l="l"/>
            <a:pathLst>
              <a:path h="1280232" w="8731842">
                <a:moveTo>
                  <a:pt x="0" y="0"/>
                </a:moveTo>
                <a:lnTo>
                  <a:pt x="8731842" y="0"/>
                </a:lnTo>
                <a:lnTo>
                  <a:pt x="8731842" y="1280233"/>
                </a:lnTo>
                <a:lnTo>
                  <a:pt x="0" y="1280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93897" y="7720627"/>
            <a:ext cx="11247409" cy="1177890"/>
          </a:xfrm>
          <a:custGeom>
            <a:avLst/>
            <a:gdLst/>
            <a:ahLst/>
            <a:cxnLst/>
            <a:rect r="r" b="b" t="t" l="l"/>
            <a:pathLst>
              <a:path h="1177890" w="11247409">
                <a:moveTo>
                  <a:pt x="0" y="0"/>
                </a:moveTo>
                <a:lnTo>
                  <a:pt x="11247409" y="0"/>
                </a:lnTo>
                <a:lnTo>
                  <a:pt x="11247409" y="1177890"/>
                </a:lnTo>
                <a:lnTo>
                  <a:pt x="0" y="1177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7469986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253828"/>
            <a:ext cx="1099293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Consistência Estadual: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4026218"/>
            <a:ext cx="1338853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Conservação do Fluxo: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71" y="6798608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Conservação e Disponibilidade de Estoque: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54912" y="2013817"/>
            <a:ext cx="6370200" cy="1061700"/>
          </a:xfrm>
          <a:custGeom>
            <a:avLst/>
            <a:gdLst/>
            <a:ahLst/>
            <a:cxnLst/>
            <a:rect r="r" b="b" t="t" l="l"/>
            <a:pathLst>
              <a:path h="1061700" w="6370200">
                <a:moveTo>
                  <a:pt x="0" y="0"/>
                </a:moveTo>
                <a:lnTo>
                  <a:pt x="6370200" y="0"/>
                </a:lnTo>
                <a:lnTo>
                  <a:pt x="6370200" y="1061700"/>
                </a:lnTo>
                <a:lnTo>
                  <a:pt x="0" y="106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54912" y="4306072"/>
            <a:ext cx="8164874" cy="679296"/>
          </a:xfrm>
          <a:custGeom>
            <a:avLst/>
            <a:gdLst/>
            <a:ahLst/>
            <a:cxnLst/>
            <a:rect r="r" b="b" t="t" l="l"/>
            <a:pathLst>
              <a:path h="679296" w="8164874">
                <a:moveTo>
                  <a:pt x="0" y="0"/>
                </a:moveTo>
                <a:lnTo>
                  <a:pt x="8164874" y="0"/>
                </a:lnTo>
                <a:lnTo>
                  <a:pt x="8164874" y="679296"/>
                </a:lnTo>
                <a:lnTo>
                  <a:pt x="0" y="679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7931" y="6560121"/>
            <a:ext cx="6481514" cy="1014498"/>
          </a:xfrm>
          <a:custGeom>
            <a:avLst/>
            <a:gdLst/>
            <a:ahLst/>
            <a:cxnLst/>
            <a:rect r="r" b="b" t="t" l="l"/>
            <a:pathLst>
              <a:path h="1014498" w="6481514">
                <a:moveTo>
                  <a:pt x="0" y="0"/>
                </a:moveTo>
                <a:lnTo>
                  <a:pt x="6481514" y="0"/>
                </a:lnTo>
                <a:lnTo>
                  <a:pt x="6481514" y="1014498"/>
                </a:lnTo>
                <a:lnTo>
                  <a:pt x="0" y="1014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7469986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253828"/>
            <a:ext cx="10992932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Oferta: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3545978"/>
            <a:ext cx="1338853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Restrição de Demanda: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71" y="5838127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Primeira Restrição de Capacidade Agregada: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533701" y="9012033"/>
            <a:ext cx="7173186" cy="1134998"/>
          </a:xfrm>
          <a:custGeom>
            <a:avLst/>
            <a:gdLst/>
            <a:ahLst/>
            <a:cxnLst/>
            <a:rect r="r" b="b" t="t" l="l"/>
            <a:pathLst>
              <a:path h="1134998" w="7173186">
                <a:moveTo>
                  <a:pt x="0" y="0"/>
                </a:moveTo>
                <a:lnTo>
                  <a:pt x="7173185" y="0"/>
                </a:lnTo>
                <a:lnTo>
                  <a:pt x="7173185" y="1134997"/>
                </a:lnTo>
                <a:lnTo>
                  <a:pt x="0" y="1134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590121" y="8087925"/>
            <a:ext cx="1139555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Segunda Restrição de Capacidade Agregada: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3871" y="1974627"/>
            <a:ext cx="6133728" cy="983582"/>
          </a:xfrm>
          <a:custGeom>
            <a:avLst/>
            <a:gdLst/>
            <a:ahLst/>
            <a:cxnLst/>
            <a:rect r="r" b="b" t="t" l="l"/>
            <a:pathLst>
              <a:path h="983582" w="6133728">
                <a:moveTo>
                  <a:pt x="0" y="0"/>
                </a:moveTo>
                <a:lnTo>
                  <a:pt x="6133728" y="0"/>
                </a:lnTo>
                <a:lnTo>
                  <a:pt x="6133728" y="983582"/>
                </a:lnTo>
                <a:lnTo>
                  <a:pt x="0" y="983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5471" y="4430644"/>
            <a:ext cx="10327238" cy="2432284"/>
          </a:xfrm>
          <a:custGeom>
            <a:avLst/>
            <a:gdLst/>
            <a:ahLst/>
            <a:cxnLst/>
            <a:rect r="r" b="b" t="t" l="l"/>
            <a:pathLst>
              <a:path h="2432284" w="10327238">
                <a:moveTo>
                  <a:pt x="0" y="0"/>
                </a:moveTo>
                <a:lnTo>
                  <a:pt x="10327238" y="0"/>
                </a:lnTo>
                <a:lnTo>
                  <a:pt x="10327238" y="2432284"/>
                </a:lnTo>
                <a:lnTo>
                  <a:pt x="0" y="2432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16579" y="8787427"/>
            <a:ext cx="13653108" cy="693932"/>
          </a:xfrm>
          <a:custGeom>
            <a:avLst/>
            <a:gdLst/>
            <a:ahLst/>
            <a:cxnLst/>
            <a:rect r="r" b="b" t="t" l="l"/>
            <a:pathLst>
              <a:path h="693932" w="13653108">
                <a:moveTo>
                  <a:pt x="0" y="0"/>
                </a:moveTo>
                <a:lnTo>
                  <a:pt x="13653108" y="0"/>
                </a:lnTo>
                <a:lnTo>
                  <a:pt x="13653108" y="693932"/>
                </a:lnTo>
                <a:lnTo>
                  <a:pt x="0" y="693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82060"/>
            <a:ext cx="7469986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Restrições: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195483"/>
            <a:ext cx="1338853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Terceira Restrição de Capacidade Agregada: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471" y="3687246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de Viabilidade Temporal: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5042" y="7865408"/>
            <a:ext cx="13730763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Restrições de Integralidade e Não-negatividade: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18555" y="4592872"/>
            <a:ext cx="15439579" cy="868476"/>
          </a:xfrm>
          <a:custGeom>
            <a:avLst/>
            <a:gdLst/>
            <a:ahLst/>
            <a:cxnLst/>
            <a:rect r="r" b="b" t="t" l="l"/>
            <a:pathLst>
              <a:path h="868476" w="15439579">
                <a:moveTo>
                  <a:pt x="0" y="0"/>
                </a:moveTo>
                <a:lnTo>
                  <a:pt x="15439579" y="0"/>
                </a:lnTo>
                <a:lnTo>
                  <a:pt x="15439579" y="868476"/>
                </a:lnTo>
                <a:lnTo>
                  <a:pt x="0" y="868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182060"/>
            <a:ext cx="980452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Tempo do Processo de Redistribuição: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4203" y="4424362"/>
            <a:ext cx="6819595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Aplicação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20906" y="8803005"/>
            <a:ext cx="1384618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Link: https://github.com/MatheusPercine/Optimizing_Vaccine_Distribution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6282" y="181212"/>
            <a:ext cx="10105788" cy="10105788"/>
            <a:chOff x="0" y="0"/>
            <a:chExt cx="13474384" cy="1347438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474384" cy="1347438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34732" y="1234732"/>
              <a:ext cx="11004920" cy="11004920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true" flipV="false" rot="0">
            <a:off x="15531103" y="760406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3261914" y="0"/>
                </a:moveTo>
                <a:lnTo>
                  <a:pt x="0" y="0"/>
                </a:lnTo>
                <a:lnTo>
                  <a:pt x="0" y="4114800"/>
                </a:lnTo>
                <a:lnTo>
                  <a:pt x="3261914" y="4114800"/>
                </a:lnTo>
                <a:lnTo>
                  <a:pt x="32619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05017" y="632782"/>
            <a:ext cx="3261914" cy="4114800"/>
          </a:xfrm>
          <a:custGeom>
            <a:avLst/>
            <a:gdLst/>
            <a:ahLst/>
            <a:cxnLst/>
            <a:rect r="r" b="b" t="t" l="l"/>
            <a:pathLst>
              <a:path h="4114800" w="3261914">
                <a:moveTo>
                  <a:pt x="0" y="0"/>
                </a:moveTo>
                <a:lnTo>
                  <a:pt x="3261914" y="0"/>
                </a:lnTo>
                <a:lnTo>
                  <a:pt x="3261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4526880"/>
            <a:ext cx="18288000" cy="6082590"/>
            <a:chOff x="0" y="0"/>
            <a:chExt cx="6186311" cy="20575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86311" cy="2057568"/>
            </a:xfrm>
            <a:custGeom>
              <a:avLst/>
              <a:gdLst/>
              <a:ahLst/>
              <a:cxnLst/>
              <a:rect r="r" b="b" t="t" l="l"/>
              <a:pathLst>
                <a:path h="2057568" w="6186311">
                  <a:moveTo>
                    <a:pt x="6061851" y="2057567"/>
                  </a:moveTo>
                  <a:lnTo>
                    <a:pt x="124460" y="2057567"/>
                  </a:lnTo>
                  <a:cubicBezTo>
                    <a:pt x="55880" y="2057567"/>
                    <a:pt x="0" y="2001688"/>
                    <a:pt x="0" y="193310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933108"/>
                  </a:lnTo>
                  <a:cubicBezTo>
                    <a:pt x="6186311" y="2001688"/>
                    <a:pt x="6130431" y="2057568"/>
                    <a:pt x="6061851" y="2057568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546230" y="161490"/>
            <a:ext cx="4822851" cy="4586093"/>
          </a:xfrm>
          <a:custGeom>
            <a:avLst/>
            <a:gdLst/>
            <a:ahLst/>
            <a:cxnLst/>
            <a:rect r="r" b="b" t="t" l="l"/>
            <a:pathLst>
              <a:path h="4586093" w="4822851">
                <a:moveTo>
                  <a:pt x="0" y="0"/>
                </a:moveTo>
                <a:lnTo>
                  <a:pt x="4822851" y="0"/>
                </a:lnTo>
                <a:lnTo>
                  <a:pt x="4822851" y="4586092"/>
                </a:lnTo>
                <a:lnTo>
                  <a:pt x="0" y="4586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25940" y="3431694"/>
            <a:ext cx="16036121" cy="2190371"/>
            <a:chOff x="0" y="0"/>
            <a:chExt cx="5424564" cy="7409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24565" cy="740940"/>
            </a:xfrm>
            <a:custGeom>
              <a:avLst/>
              <a:gdLst/>
              <a:ahLst/>
              <a:cxnLst/>
              <a:rect r="r" b="b" t="t" l="l"/>
              <a:pathLst>
                <a:path h="740940" w="5424565">
                  <a:moveTo>
                    <a:pt x="5300104" y="740940"/>
                  </a:moveTo>
                  <a:lnTo>
                    <a:pt x="124460" y="740940"/>
                  </a:lnTo>
                  <a:cubicBezTo>
                    <a:pt x="55880" y="740940"/>
                    <a:pt x="0" y="685060"/>
                    <a:pt x="0" y="6164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00104" y="0"/>
                  </a:lnTo>
                  <a:cubicBezTo>
                    <a:pt x="5368684" y="0"/>
                    <a:pt x="5424565" y="55880"/>
                    <a:pt x="5424565" y="124460"/>
                  </a:cubicBezTo>
                  <a:lnTo>
                    <a:pt x="5424565" y="616480"/>
                  </a:lnTo>
                  <a:cubicBezTo>
                    <a:pt x="5424565" y="685060"/>
                    <a:pt x="5368684" y="740940"/>
                    <a:pt x="5300104" y="740940"/>
                  </a:cubicBezTo>
                  <a:close/>
                </a:path>
              </a:pathLst>
            </a:custGeom>
            <a:solidFill>
              <a:srgbClr val="16294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493687" y="6256582"/>
            <a:ext cx="11510979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Os experimentos computacionais foram realizados em um computador LENOVO (mo delo 83ME) equipado com processador 12th Gen Int</a:t>
            </a:r>
            <a:r>
              <a:rPr lang="en-US" b="true" sz="2399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el(R) Core(TM) i5-12450HX @ 2.40 GHz, possuindo 8 núcleos físicos e 12 processadores lógicos. O sistema conta com 16 GB de memória RAM (DDR5 com velocidade de 4800 MT/s), armazenamento em SSD NVMe Samsung de 480 GB de capacidade e placa de video NVIDIA GeForce RTX 3050 com 6 GB de memória. O sistema operacional utilizado foi o Microsoft Windows 11 Home Single Language de 64 bits.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3139" y="4039746"/>
            <a:ext cx="14632075" cy="97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true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Configurações da Máquina Usada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2157" y="1564754"/>
            <a:ext cx="7693546" cy="7693546"/>
            <a:chOff x="0" y="0"/>
            <a:chExt cx="10258062" cy="1025806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258062" cy="10258062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40003" y="940003"/>
              <a:ext cx="8378056" cy="837805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781661" y="917054"/>
            <a:ext cx="1501558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Análise dos Métodos de Resolução de Problemas de Otimização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0664" y="3307210"/>
            <a:ext cx="4829411" cy="6768110"/>
            <a:chOff x="0" y="0"/>
            <a:chExt cx="6439214" cy="902414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39214" cy="4337182"/>
              <a:chOff x="0" y="0"/>
              <a:chExt cx="1633652" cy="11003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33653" cy="1100359"/>
              </a:xfrm>
              <a:custGeom>
                <a:avLst/>
                <a:gdLst/>
                <a:ahLst/>
                <a:cxnLst/>
                <a:rect r="r" b="b" t="t" l="l"/>
                <a:pathLst>
                  <a:path h="1100359" w="1633653">
                    <a:moveTo>
                      <a:pt x="1509192" y="1100359"/>
                    </a:moveTo>
                    <a:lnTo>
                      <a:pt x="124460" y="1100359"/>
                    </a:lnTo>
                    <a:cubicBezTo>
                      <a:pt x="55880" y="1100359"/>
                      <a:pt x="0" y="1044479"/>
                      <a:pt x="0" y="97589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975899"/>
                    </a:lnTo>
                    <a:cubicBezTo>
                      <a:pt x="1633653" y="1044479"/>
                      <a:pt x="1577772" y="1100359"/>
                      <a:pt x="1509193" y="1100359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6439214" cy="9024147"/>
              <a:chOff x="0" y="0"/>
              <a:chExt cx="1633652" cy="228946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33653" cy="2289460"/>
              </a:xfrm>
              <a:custGeom>
                <a:avLst/>
                <a:gdLst/>
                <a:ahLst/>
                <a:cxnLst/>
                <a:rect r="r" b="b" t="t" l="l"/>
                <a:pathLst>
                  <a:path h="2289460" w="1633653">
                    <a:moveTo>
                      <a:pt x="1509192" y="2289459"/>
                    </a:moveTo>
                    <a:lnTo>
                      <a:pt x="124460" y="2289459"/>
                    </a:lnTo>
                    <a:cubicBezTo>
                      <a:pt x="55880" y="2289459"/>
                      <a:pt x="0" y="2233580"/>
                      <a:pt x="0" y="216499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165000"/>
                    </a:lnTo>
                    <a:cubicBezTo>
                      <a:pt x="1633653" y="2233580"/>
                      <a:pt x="1577772" y="2289460"/>
                      <a:pt x="1509193" y="2289460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683704" y="659453"/>
              <a:ext cx="5211622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tru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O Método Simplex: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83704" y="1603937"/>
              <a:ext cx="5211622" cy="2910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Hipóteses fundamentais: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proporcionalidade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aditividade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determinismo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divisibilidade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Não resolve sozinho qualquer PPLI.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83704" y="1603937"/>
              <a:ext cx="521162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26800" y="3307210"/>
            <a:ext cx="4829411" cy="6710461"/>
            <a:chOff x="0" y="0"/>
            <a:chExt cx="6439214" cy="894728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39214" cy="8947282"/>
              <a:chOff x="0" y="0"/>
              <a:chExt cx="1633652" cy="226995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33653" cy="2269959"/>
              </a:xfrm>
              <a:custGeom>
                <a:avLst/>
                <a:gdLst/>
                <a:ahLst/>
                <a:cxnLst/>
                <a:rect r="r" b="b" t="t" l="l"/>
                <a:pathLst>
                  <a:path h="2269959" w="1633653">
                    <a:moveTo>
                      <a:pt x="1509192" y="2269959"/>
                    </a:moveTo>
                    <a:lnTo>
                      <a:pt x="124460" y="2269959"/>
                    </a:lnTo>
                    <a:cubicBezTo>
                      <a:pt x="55880" y="2269959"/>
                      <a:pt x="0" y="2214079"/>
                      <a:pt x="0" y="214549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145499"/>
                    </a:lnTo>
                    <a:cubicBezTo>
                      <a:pt x="1633653" y="2214079"/>
                      <a:pt x="1577772" y="2269959"/>
                      <a:pt x="1509193" y="2269959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683704" y="659453"/>
              <a:ext cx="357556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Gurobi Optimizer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83704" y="1603937"/>
              <a:ext cx="5211622" cy="6682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Solver exato, ou seja, garante a obtenção da solução ótima global.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C</a:t>
              </a: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ombina algoritmos como Branch-and-Bound, Branch-and-Cut, heurísticas de busca e técnicas de pré-processamento, além de o Simplex  para resolver as relaxações contínuas dos subproblemas.</a:t>
              </a:r>
            </a:p>
            <a:p>
              <a:pPr algn="l">
                <a:lnSpc>
                  <a:spcPts val="2520"/>
                </a:lnSpc>
              </a:pP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Capacidade de lidar com problemas complexos de forma eficiente.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22935" y="3307210"/>
            <a:ext cx="4829411" cy="6688876"/>
            <a:chOff x="0" y="0"/>
            <a:chExt cx="6439214" cy="891850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439214" cy="8918502"/>
              <a:chOff x="0" y="0"/>
              <a:chExt cx="1633652" cy="226265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33653" cy="2262657"/>
              </a:xfrm>
              <a:custGeom>
                <a:avLst/>
                <a:gdLst/>
                <a:ahLst/>
                <a:cxnLst/>
                <a:rect r="r" b="b" t="t" l="l"/>
                <a:pathLst>
                  <a:path h="2262657" w="1633653">
                    <a:moveTo>
                      <a:pt x="1509192" y="2262657"/>
                    </a:moveTo>
                    <a:lnTo>
                      <a:pt x="124460" y="2262657"/>
                    </a:lnTo>
                    <a:cubicBezTo>
                      <a:pt x="55880" y="2262657"/>
                      <a:pt x="0" y="2206777"/>
                      <a:pt x="0" y="213819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138197"/>
                    </a:lnTo>
                    <a:cubicBezTo>
                      <a:pt x="1633653" y="2206777"/>
                      <a:pt x="1577772" y="2262657"/>
                      <a:pt x="1509193" y="2262657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683704" y="659453"/>
              <a:ext cx="4810277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Métodos Metaheurísticos</a:t>
              </a:r>
              <a:r>
                <a:rPr lang="en-US" b="true" sz="2100" u="non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: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3704" y="1360871"/>
              <a:ext cx="5211622" cy="2910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Algoritmos Genéticos (GA)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Particle Swarm Optimization (PSO)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Differential Evolution (DE)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Não garantem a obtenção da solução ótima global.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6743" y="3389889"/>
            <a:ext cx="8791180" cy="8791180"/>
            <a:chOff x="0" y="0"/>
            <a:chExt cx="11721574" cy="117215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721574" cy="117215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074112" y="1074112"/>
              <a:ext cx="9573349" cy="9573349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grpSp>
        <p:nvGrpSpPr>
          <p:cNvPr name="Group 7" id="7"/>
          <p:cNvGrpSpPr/>
          <p:nvPr/>
        </p:nvGrpSpPr>
        <p:grpSpPr>
          <a:xfrm rot="0">
            <a:off x="1658129" y="1951183"/>
            <a:ext cx="7992330" cy="6384635"/>
            <a:chOff x="0" y="0"/>
            <a:chExt cx="10656440" cy="851284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656440" cy="8512846"/>
              <a:chOff x="0" y="0"/>
              <a:chExt cx="2703578" cy="215974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03578" cy="2159741"/>
              </a:xfrm>
              <a:custGeom>
                <a:avLst/>
                <a:gdLst/>
                <a:ahLst/>
                <a:cxnLst/>
                <a:rect r="r" b="b" t="t" l="l"/>
                <a:pathLst>
                  <a:path h="2159741" w="2703578">
                    <a:moveTo>
                      <a:pt x="2579118" y="2159741"/>
                    </a:moveTo>
                    <a:lnTo>
                      <a:pt x="124460" y="2159741"/>
                    </a:lnTo>
                    <a:cubicBezTo>
                      <a:pt x="55880" y="2159741"/>
                      <a:pt x="0" y="2103861"/>
                      <a:pt x="0" y="203528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579118" y="0"/>
                    </a:lnTo>
                    <a:cubicBezTo>
                      <a:pt x="2647698" y="0"/>
                      <a:pt x="2703578" y="55880"/>
                      <a:pt x="2703578" y="124460"/>
                    </a:cubicBezTo>
                    <a:lnTo>
                      <a:pt x="2703578" y="2035281"/>
                    </a:lnTo>
                    <a:cubicBezTo>
                      <a:pt x="2703578" y="2103861"/>
                      <a:pt x="2647698" y="2159741"/>
                      <a:pt x="2579118" y="2159741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1406788" y="2496425"/>
              <a:ext cx="7842864" cy="3577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40"/>
                </a:lnSpc>
              </a:pPr>
              <a:r>
                <a:rPr lang="en-US" sz="6400" b="tru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Estudo de Caso Escolhido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92479" y="5745905"/>
              <a:ext cx="7842864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21575" y="2201984"/>
            <a:ext cx="5866865" cy="1433092"/>
            <a:chOff x="0" y="0"/>
            <a:chExt cx="2703578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03578" cy="660400"/>
            </a:xfrm>
            <a:custGeom>
              <a:avLst/>
              <a:gdLst/>
              <a:ahLst/>
              <a:cxnLst/>
              <a:rect r="r" b="b" t="t" l="l"/>
              <a:pathLst>
                <a:path h="660400" w="2703578">
                  <a:moveTo>
                    <a:pt x="257911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79118" y="0"/>
                  </a:lnTo>
                  <a:cubicBezTo>
                    <a:pt x="2647698" y="0"/>
                    <a:pt x="2703578" y="55880"/>
                    <a:pt x="2703578" y="124460"/>
                  </a:cubicBezTo>
                  <a:lnTo>
                    <a:pt x="2703578" y="535940"/>
                  </a:lnTo>
                  <a:cubicBezTo>
                    <a:pt x="2703578" y="604520"/>
                    <a:pt x="2647698" y="660400"/>
                    <a:pt x="2579118" y="660400"/>
                  </a:cubicBezTo>
                  <a:close/>
                </a:path>
              </a:pathLst>
            </a:custGeom>
            <a:solidFill>
              <a:srgbClr val="F5F5E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21575" y="4115082"/>
            <a:ext cx="5866865" cy="1433092"/>
            <a:chOff x="0" y="0"/>
            <a:chExt cx="2703578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03578" cy="660400"/>
            </a:xfrm>
            <a:custGeom>
              <a:avLst/>
              <a:gdLst/>
              <a:ahLst/>
              <a:cxnLst/>
              <a:rect r="r" b="b" t="t" l="l"/>
              <a:pathLst>
                <a:path h="660400" w="2703578">
                  <a:moveTo>
                    <a:pt x="257911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79118" y="0"/>
                  </a:lnTo>
                  <a:cubicBezTo>
                    <a:pt x="2647698" y="0"/>
                    <a:pt x="2703578" y="55880"/>
                    <a:pt x="2703578" y="124460"/>
                  </a:cubicBezTo>
                  <a:lnTo>
                    <a:pt x="2703578" y="535940"/>
                  </a:lnTo>
                  <a:cubicBezTo>
                    <a:pt x="2703578" y="604520"/>
                    <a:pt x="2647698" y="660400"/>
                    <a:pt x="2579118" y="660400"/>
                  </a:cubicBezTo>
                  <a:close/>
                </a:path>
              </a:pathLst>
            </a:custGeom>
            <a:solidFill>
              <a:srgbClr val="F5F5E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21575" y="5903842"/>
            <a:ext cx="5866865" cy="2016895"/>
            <a:chOff x="0" y="0"/>
            <a:chExt cx="2703578" cy="9294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3578" cy="929429"/>
            </a:xfrm>
            <a:custGeom>
              <a:avLst/>
              <a:gdLst/>
              <a:ahLst/>
              <a:cxnLst/>
              <a:rect r="r" b="b" t="t" l="l"/>
              <a:pathLst>
                <a:path h="929429" w="2703578">
                  <a:moveTo>
                    <a:pt x="2579118" y="929429"/>
                  </a:moveTo>
                  <a:lnTo>
                    <a:pt x="124460" y="929429"/>
                  </a:lnTo>
                  <a:cubicBezTo>
                    <a:pt x="55880" y="929429"/>
                    <a:pt x="0" y="873549"/>
                    <a:pt x="0" y="8049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79118" y="0"/>
                  </a:lnTo>
                  <a:cubicBezTo>
                    <a:pt x="2647698" y="0"/>
                    <a:pt x="2703578" y="55880"/>
                    <a:pt x="2703578" y="124460"/>
                  </a:cubicBezTo>
                  <a:lnTo>
                    <a:pt x="2703578" y="804969"/>
                  </a:lnTo>
                  <a:cubicBezTo>
                    <a:pt x="2703578" y="873549"/>
                    <a:pt x="2647698" y="929429"/>
                    <a:pt x="2579118" y="929429"/>
                  </a:cubicBezTo>
                  <a:close/>
                </a:path>
              </a:pathLst>
            </a:custGeom>
            <a:solidFill>
              <a:srgbClr val="F5F5EF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090471" y="3605551"/>
            <a:ext cx="4723723" cy="7021751"/>
          </a:xfrm>
          <a:custGeom>
            <a:avLst/>
            <a:gdLst/>
            <a:ahLst/>
            <a:cxnLst/>
            <a:rect r="r" b="b" t="t" l="l"/>
            <a:pathLst>
              <a:path h="7021751" w="4723723">
                <a:moveTo>
                  <a:pt x="0" y="0"/>
                </a:moveTo>
                <a:lnTo>
                  <a:pt x="4723723" y="0"/>
                </a:lnTo>
                <a:lnTo>
                  <a:pt x="4723723" y="7021751"/>
                </a:lnTo>
                <a:lnTo>
                  <a:pt x="0" y="702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138994" y="2367284"/>
            <a:ext cx="3372842" cy="1102493"/>
            <a:chOff x="0" y="0"/>
            <a:chExt cx="4497123" cy="146999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4497123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true">
                  <a:solidFill>
                    <a:srgbClr val="162942"/>
                  </a:solidFill>
                  <a:latin typeface="Now Bold"/>
                  <a:ea typeface="Now Bold"/>
                  <a:cs typeface="Now Bold"/>
                  <a:sym typeface="Now Bold"/>
                </a:rPr>
                <a:t>Municípios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54651"/>
              <a:ext cx="449712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27 capitais estaduais, incluindo o Distrito Federal.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38994" y="4280382"/>
            <a:ext cx="3372842" cy="1102493"/>
            <a:chOff x="0" y="0"/>
            <a:chExt cx="4497123" cy="146999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38100"/>
              <a:ext cx="4497123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62942"/>
                  </a:solidFill>
                  <a:latin typeface="Now Bold"/>
                  <a:ea typeface="Now Bold"/>
                  <a:cs typeface="Now Bold"/>
                  <a:sym typeface="Now Bold"/>
                </a:rPr>
                <a:t>Postos de Saúde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54651"/>
              <a:ext cx="4497123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Dois postos por município (54 postos).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38994" y="6054336"/>
            <a:ext cx="3795595" cy="1731143"/>
            <a:chOff x="0" y="0"/>
            <a:chExt cx="5060794" cy="2308191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38100"/>
              <a:ext cx="5060794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162942"/>
                  </a:solidFill>
                  <a:latin typeface="Now Bold"/>
                  <a:ea typeface="Now Bold"/>
                  <a:cs typeface="Now Bold"/>
                  <a:sym typeface="Now Bold"/>
                </a:rPr>
                <a:t>Vacinas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654651"/>
              <a:ext cx="5060794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Pfizer-BioNTech (Comirnaty)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AstraZeneca/Oxford (Fiocruz)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CoronaVac (Butantan)</a:t>
              </a:r>
            </a:p>
            <a:p>
              <a:pPr algn="l" marL="388620" indent="-194310" lvl="1">
                <a:lnSpc>
                  <a:spcPts val="25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00">
                  <a:solidFill>
                    <a:srgbClr val="162942"/>
                  </a:solidFill>
                  <a:latin typeface="Now"/>
                  <a:ea typeface="Now"/>
                  <a:cs typeface="Now"/>
                  <a:sym typeface="Now"/>
                </a:rPr>
                <a:t>Janssen (Johnson &amp; Johnson)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2157" y="1564754"/>
            <a:ext cx="7693546" cy="7693546"/>
            <a:chOff x="0" y="0"/>
            <a:chExt cx="10258062" cy="1025806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258062" cy="10258062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940003" y="940003"/>
              <a:ext cx="8378056" cy="837805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sp>
        <p:nvSpPr>
          <p:cNvPr name="TextBox 7" id="7"/>
          <p:cNvSpPr txBox="true"/>
          <p:nvPr/>
        </p:nvSpPr>
        <p:spPr>
          <a:xfrm rot="0">
            <a:off x="801793" y="1019175"/>
            <a:ext cx="1501558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Métodos de Obtenção dos Dados de Custo em Horas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0664" y="3307210"/>
            <a:ext cx="4881842" cy="6498316"/>
            <a:chOff x="0" y="0"/>
            <a:chExt cx="6509122" cy="866442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439214" cy="4337182"/>
              <a:chOff x="0" y="0"/>
              <a:chExt cx="1633652" cy="11003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33653" cy="1100359"/>
              </a:xfrm>
              <a:custGeom>
                <a:avLst/>
                <a:gdLst/>
                <a:ahLst/>
                <a:cxnLst/>
                <a:rect r="r" b="b" t="t" l="l"/>
                <a:pathLst>
                  <a:path h="1100359" w="1633653">
                    <a:moveTo>
                      <a:pt x="1509192" y="1100359"/>
                    </a:moveTo>
                    <a:lnTo>
                      <a:pt x="124460" y="1100359"/>
                    </a:lnTo>
                    <a:cubicBezTo>
                      <a:pt x="55880" y="1100359"/>
                      <a:pt x="0" y="1044479"/>
                      <a:pt x="0" y="97589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975899"/>
                    </a:lnTo>
                    <a:cubicBezTo>
                      <a:pt x="1633653" y="1044479"/>
                      <a:pt x="1577772" y="1100359"/>
                      <a:pt x="1509193" y="1100359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69908" y="9942"/>
              <a:ext cx="6439214" cy="8654480"/>
              <a:chOff x="0" y="0"/>
              <a:chExt cx="1633652" cy="219567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33653" cy="2195674"/>
              </a:xfrm>
              <a:custGeom>
                <a:avLst/>
                <a:gdLst/>
                <a:ahLst/>
                <a:cxnLst/>
                <a:rect r="r" b="b" t="t" l="l"/>
                <a:pathLst>
                  <a:path h="2195674" w="1633653">
                    <a:moveTo>
                      <a:pt x="1509192" y="2195674"/>
                    </a:moveTo>
                    <a:lnTo>
                      <a:pt x="124460" y="2195674"/>
                    </a:lnTo>
                    <a:cubicBezTo>
                      <a:pt x="55880" y="2195674"/>
                      <a:pt x="0" y="2139794"/>
                      <a:pt x="0" y="207121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071214"/>
                    </a:lnTo>
                    <a:cubicBezTo>
                      <a:pt x="1633653" y="2139794"/>
                      <a:pt x="1577772" y="2195674"/>
                      <a:pt x="1509193" y="2195674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683704" y="659453"/>
              <a:ext cx="5211622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tru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Coleta manual de Dados por meio do Google Maps: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83704" y="2130491"/>
              <a:ext cx="5211622" cy="3749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Em um cenário com n local</a:t>
              </a: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idades, seria necessário coletar aproximadamente</a:t>
              </a: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 n^2 pares origem-destino. 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Impraticável do ponto de vista operacional, além de introduzir elevado risco de erros humanos durante a coleta.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83704" y="1603937"/>
              <a:ext cx="521162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26800" y="3307210"/>
            <a:ext cx="4829411" cy="6475934"/>
            <a:chOff x="0" y="0"/>
            <a:chExt cx="6439214" cy="863457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439214" cy="8634579"/>
              <a:chOff x="0" y="0"/>
              <a:chExt cx="1633652" cy="219062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33653" cy="2190625"/>
              </a:xfrm>
              <a:custGeom>
                <a:avLst/>
                <a:gdLst/>
                <a:ahLst/>
                <a:cxnLst/>
                <a:rect r="r" b="b" t="t" l="l"/>
                <a:pathLst>
                  <a:path h="2190625" w="1633653">
                    <a:moveTo>
                      <a:pt x="1509192" y="2190625"/>
                    </a:moveTo>
                    <a:lnTo>
                      <a:pt x="124460" y="2190625"/>
                    </a:lnTo>
                    <a:cubicBezTo>
                      <a:pt x="55880" y="2190625"/>
                      <a:pt x="0" y="2134745"/>
                      <a:pt x="0" y="206616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066165"/>
                    </a:lnTo>
                    <a:cubicBezTo>
                      <a:pt x="1633653" y="2134745"/>
                      <a:pt x="1577772" y="2190625"/>
                      <a:pt x="1509193" y="2190625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683704" y="659453"/>
              <a:ext cx="5211622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Utilização da API do Google Maps para a obtenção automatizada dos tempos de deslocamento entre localidades.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83704" y="3502078"/>
              <a:ext cx="5211622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Serviço pago, com custos que podem se tornar extremamente significativos à medida que o número de requisições aumenta.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22935" y="3307210"/>
            <a:ext cx="4829411" cy="6477835"/>
            <a:chOff x="0" y="0"/>
            <a:chExt cx="6439214" cy="8637114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439214" cy="8637114"/>
              <a:chOff x="0" y="0"/>
              <a:chExt cx="1633652" cy="219126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33653" cy="2191268"/>
              </a:xfrm>
              <a:custGeom>
                <a:avLst/>
                <a:gdLst/>
                <a:ahLst/>
                <a:cxnLst/>
                <a:rect r="r" b="b" t="t" l="l"/>
                <a:pathLst>
                  <a:path h="2191268" w="1633653">
                    <a:moveTo>
                      <a:pt x="1509192" y="2191268"/>
                    </a:moveTo>
                    <a:lnTo>
                      <a:pt x="124460" y="2191268"/>
                    </a:lnTo>
                    <a:cubicBezTo>
                      <a:pt x="55880" y="2191268"/>
                      <a:pt x="0" y="2135388"/>
                      <a:pt x="0" y="2066808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509193" y="0"/>
                    </a:lnTo>
                    <a:cubicBezTo>
                      <a:pt x="1577772" y="0"/>
                      <a:pt x="1633653" y="55880"/>
                      <a:pt x="1633653" y="124460"/>
                    </a:cubicBezTo>
                    <a:lnTo>
                      <a:pt x="1633653" y="2066808"/>
                    </a:lnTo>
                    <a:cubicBezTo>
                      <a:pt x="1633653" y="2135388"/>
                      <a:pt x="1577772" y="2191268"/>
                      <a:pt x="1509193" y="2191268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683704" y="659453"/>
              <a:ext cx="4810277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Uso da distância geodésica entre duas localidades (fórmula de Haversine)</a:t>
              </a:r>
              <a:r>
                <a:rPr lang="en-US" b="true" sz="2100" u="none">
                  <a:solidFill>
                    <a:srgbClr val="F5F5EF"/>
                  </a:solidFill>
                  <a:latin typeface="Now Bold"/>
                  <a:ea typeface="Now Bold"/>
                  <a:cs typeface="Now Bold"/>
                  <a:sym typeface="Now Bold"/>
                </a:rPr>
                <a:t>: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3704" y="3222552"/>
              <a:ext cx="5211622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5F5EF"/>
                  </a:solidFill>
                  <a:latin typeface="Now"/>
                  <a:ea typeface="Now"/>
                  <a:cs typeface="Now"/>
                  <a:sym typeface="Now"/>
                </a:rPr>
                <a:t>Representa a menor distância entre dois pontos sobre a superfície terrestre, considerando a curvatura da Terra.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383282" y="7457356"/>
            <a:ext cx="3908717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5F5EF"/>
                </a:solidFill>
                <a:latin typeface="Now"/>
                <a:ea typeface="Now"/>
                <a:cs typeface="Now"/>
                <a:sym typeface="Now"/>
              </a:rPr>
              <a:t>Vantagens: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5F5EF"/>
                </a:solidFill>
                <a:latin typeface="Now"/>
                <a:ea typeface="Now"/>
                <a:cs typeface="Now"/>
                <a:sym typeface="Now"/>
              </a:rPr>
              <a:t>Escalabilidade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5F5EF"/>
                </a:solidFill>
                <a:latin typeface="Now"/>
                <a:ea typeface="Now"/>
                <a:cs typeface="Now"/>
                <a:sym typeface="Now"/>
              </a:rPr>
              <a:t>Reprodutibilidade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5F5EF"/>
                </a:solidFill>
                <a:latin typeface="Now"/>
                <a:ea typeface="Now"/>
                <a:cs typeface="Now"/>
                <a:sym typeface="Now"/>
              </a:rPr>
              <a:t>Sem custos financeiros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374348" y="1944917"/>
            <a:ext cx="12070125" cy="3198583"/>
          </a:xfrm>
          <a:custGeom>
            <a:avLst/>
            <a:gdLst/>
            <a:ahLst/>
            <a:cxnLst/>
            <a:rect r="r" b="b" t="t" l="l"/>
            <a:pathLst>
              <a:path h="3198583" w="12070125">
                <a:moveTo>
                  <a:pt x="0" y="0"/>
                </a:moveTo>
                <a:lnTo>
                  <a:pt x="12070124" y="0"/>
                </a:lnTo>
                <a:lnTo>
                  <a:pt x="12070124" y="3198583"/>
                </a:lnTo>
                <a:lnTo>
                  <a:pt x="0" y="3198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776970" y="5774224"/>
            <a:ext cx="9804469" cy="4252688"/>
          </a:xfrm>
          <a:custGeom>
            <a:avLst/>
            <a:gdLst/>
            <a:ahLst/>
            <a:cxnLst/>
            <a:rect r="r" b="b" t="t" l="l"/>
            <a:pathLst>
              <a:path h="4252688" w="9804469">
                <a:moveTo>
                  <a:pt x="0" y="0"/>
                </a:moveTo>
                <a:lnTo>
                  <a:pt x="9804469" y="0"/>
                </a:lnTo>
                <a:lnTo>
                  <a:pt x="9804469" y="4252688"/>
                </a:lnTo>
                <a:lnTo>
                  <a:pt x="0" y="425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864" y="247651"/>
            <a:ext cx="12721794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Uso da Fórmula de Haversine no Cálculo dos Dados de Custo: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18555" y="2487441"/>
            <a:ext cx="13672443" cy="939980"/>
          </a:xfrm>
          <a:custGeom>
            <a:avLst/>
            <a:gdLst/>
            <a:ahLst/>
            <a:cxnLst/>
            <a:rect r="r" b="b" t="t" l="l"/>
            <a:pathLst>
              <a:path h="939980" w="13672443">
                <a:moveTo>
                  <a:pt x="0" y="0"/>
                </a:moveTo>
                <a:lnTo>
                  <a:pt x="13672443" y="0"/>
                </a:lnTo>
                <a:lnTo>
                  <a:pt x="13672443" y="939980"/>
                </a:lnTo>
                <a:lnTo>
                  <a:pt x="0" y="939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46670" y="4592872"/>
            <a:ext cx="4605040" cy="1867482"/>
          </a:xfrm>
          <a:custGeom>
            <a:avLst/>
            <a:gdLst/>
            <a:ahLst/>
            <a:cxnLst/>
            <a:rect r="r" b="b" t="t" l="l"/>
            <a:pathLst>
              <a:path h="1867482" w="4605040">
                <a:moveTo>
                  <a:pt x="0" y="0"/>
                </a:moveTo>
                <a:lnTo>
                  <a:pt x="4605040" y="0"/>
                </a:lnTo>
                <a:lnTo>
                  <a:pt x="4605040" y="1867481"/>
                </a:lnTo>
                <a:lnTo>
                  <a:pt x="0" y="1867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864" y="247651"/>
            <a:ext cx="12721794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Uso da Fórmula de Haversine no Cálculo dos Dados de Custo: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1920" y="0"/>
            <a:ext cx="7557654" cy="10287000"/>
            <a:chOff x="0" y="0"/>
            <a:chExt cx="2556540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6540" cy="3479800"/>
            </a:xfrm>
            <a:custGeom>
              <a:avLst/>
              <a:gdLst/>
              <a:ahLst/>
              <a:cxnLst/>
              <a:rect r="r" b="b" t="t" l="l"/>
              <a:pathLst>
                <a:path h="3479800" w="2556540">
                  <a:moveTo>
                    <a:pt x="2432080" y="3479800"/>
                  </a:moveTo>
                  <a:lnTo>
                    <a:pt x="124460" y="3479800"/>
                  </a:lnTo>
                  <a:cubicBezTo>
                    <a:pt x="55880" y="3479800"/>
                    <a:pt x="0" y="3423920"/>
                    <a:pt x="0" y="33553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32080" y="0"/>
                  </a:lnTo>
                  <a:cubicBezTo>
                    <a:pt x="2500660" y="0"/>
                    <a:pt x="2556540" y="55880"/>
                    <a:pt x="2556540" y="124460"/>
                  </a:cubicBezTo>
                  <a:lnTo>
                    <a:pt x="2556540" y="3355340"/>
                  </a:lnTo>
                  <a:cubicBezTo>
                    <a:pt x="2556540" y="3423920"/>
                    <a:pt x="2500660" y="3479800"/>
                    <a:pt x="2432080" y="3479800"/>
                  </a:cubicBezTo>
                  <a:close/>
                </a:path>
              </a:pathLst>
            </a:custGeom>
            <a:solidFill>
              <a:srgbClr val="4A64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764126" y="5814873"/>
            <a:ext cx="8363635" cy="8363635"/>
            <a:chOff x="0" y="0"/>
            <a:chExt cx="11151514" cy="111515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1151514" cy="1115151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021875" y="1021875"/>
              <a:ext cx="9107765" cy="9107765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6770665" y="235145"/>
            <a:ext cx="9737919" cy="2877793"/>
            <a:chOff x="0" y="0"/>
            <a:chExt cx="12983892" cy="383705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983892" cy="3837057"/>
              <a:chOff x="0" y="0"/>
              <a:chExt cx="3294061" cy="9734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294062" cy="973476"/>
              </a:xfrm>
              <a:custGeom>
                <a:avLst/>
                <a:gdLst/>
                <a:ahLst/>
                <a:cxnLst/>
                <a:rect r="r" b="b" t="t" l="l"/>
                <a:pathLst>
                  <a:path h="973476" w="3294062">
                    <a:moveTo>
                      <a:pt x="3169601" y="973476"/>
                    </a:moveTo>
                    <a:lnTo>
                      <a:pt x="124460" y="973476"/>
                    </a:lnTo>
                    <a:cubicBezTo>
                      <a:pt x="55880" y="973476"/>
                      <a:pt x="0" y="917596"/>
                      <a:pt x="0" y="849016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169601" y="0"/>
                    </a:lnTo>
                    <a:cubicBezTo>
                      <a:pt x="3238181" y="0"/>
                      <a:pt x="3294062" y="55880"/>
                      <a:pt x="3294062" y="124460"/>
                    </a:cubicBezTo>
                    <a:lnTo>
                      <a:pt x="3294062" y="849016"/>
                    </a:lnTo>
                    <a:cubicBezTo>
                      <a:pt x="3294062" y="917596"/>
                      <a:pt x="3238181" y="973476"/>
                      <a:pt x="3169601" y="973476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616860" y="410584"/>
              <a:ext cx="12143784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Obtenção dos Dados de Coo</a:t>
              </a:r>
              <a:r>
                <a:rPr lang="en-US" sz="22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rdenadas e População dos Municípios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16860" y="1445684"/>
              <a:ext cx="9584831" cy="1535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8" indent="-237489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</a:t>
              </a:r>
              <a:r>
                <a:rPr lang="en-US" sz="21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ongitude e latitude - dados do IBGE</a:t>
              </a:r>
            </a:p>
            <a:p>
              <a:pPr algn="l" marL="474978" indent="-237489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dados da população - Wikipédia</a:t>
              </a:r>
            </a:p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70665" y="2690145"/>
            <a:ext cx="9737919" cy="4906711"/>
            <a:chOff x="0" y="0"/>
            <a:chExt cx="12983892" cy="654228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983892" cy="6542281"/>
              <a:chOff x="0" y="0"/>
              <a:chExt cx="3294061" cy="165980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294062" cy="1659801"/>
              </a:xfrm>
              <a:custGeom>
                <a:avLst/>
                <a:gdLst/>
                <a:ahLst/>
                <a:cxnLst/>
                <a:rect r="r" b="b" t="t" l="l"/>
                <a:pathLst>
                  <a:path h="1659801" w="3294062">
                    <a:moveTo>
                      <a:pt x="3169601" y="1659801"/>
                    </a:moveTo>
                    <a:lnTo>
                      <a:pt x="124460" y="1659801"/>
                    </a:lnTo>
                    <a:cubicBezTo>
                      <a:pt x="55880" y="1659801"/>
                      <a:pt x="0" y="1603921"/>
                      <a:pt x="0" y="153534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169601" y="0"/>
                    </a:lnTo>
                    <a:cubicBezTo>
                      <a:pt x="3238181" y="0"/>
                      <a:pt x="3294062" y="55880"/>
                      <a:pt x="3294062" y="124460"/>
                    </a:cubicBezTo>
                    <a:lnTo>
                      <a:pt x="3294062" y="1535341"/>
                    </a:lnTo>
                    <a:cubicBezTo>
                      <a:pt x="3294062" y="1603921"/>
                      <a:pt x="3238181" y="1659801"/>
                      <a:pt x="3169601" y="1659801"/>
                    </a:cubicBezTo>
                    <a:close/>
                  </a:path>
                </a:pathLst>
              </a:custGeom>
              <a:solidFill>
                <a:srgbClr val="162942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599029" y="704125"/>
              <a:ext cx="11640408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Ob</a:t>
              </a:r>
              <a:r>
                <a:rPr lang="en-US" b="true" sz="2299" u="none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tenção dos Dados de Coordenadas dos Centros Estaduais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99029" y="1870429"/>
              <a:ext cx="11640408" cy="2055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lo</a:t>
              </a:r>
              <a:r>
                <a:rPr lang="en-US" sz="2199" u="none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ngitude e latitude - base de dados pública e não oficial. A análise espacial da malha demonstrou que essas coordenadas aproximam-se do centroide geográfico de cada estado, e não necessariamente da localização física de suas capitais administrativas.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70665" y="6339660"/>
            <a:ext cx="9737919" cy="3830386"/>
            <a:chOff x="0" y="0"/>
            <a:chExt cx="12983892" cy="510718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983892" cy="5107181"/>
              <a:chOff x="0" y="0"/>
              <a:chExt cx="3294061" cy="129571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294062" cy="1295711"/>
              </a:xfrm>
              <a:custGeom>
                <a:avLst/>
                <a:gdLst/>
                <a:ahLst/>
                <a:cxnLst/>
                <a:rect r="r" b="b" t="t" l="l"/>
                <a:pathLst>
                  <a:path h="1295711" w="3294062">
                    <a:moveTo>
                      <a:pt x="3169601" y="1295711"/>
                    </a:moveTo>
                    <a:lnTo>
                      <a:pt x="124460" y="1295711"/>
                    </a:lnTo>
                    <a:cubicBezTo>
                      <a:pt x="55880" y="1295711"/>
                      <a:pt x="0" y="1239831"/>
                      <a:pt x="0" y="117125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169601" y="0"/>
                    </a:lnTo>
                    <a:cubicBezTo>
                      <a:pt x="3238181" y="0"/>
                      <a:pt x="3294062" y="55880"/>
                      <a:pt x="3294062" y="124460"/>
                    </a:cubicBezTo>
                    <a:lnTo>
                      <a:pt x="3294062" y="1171251"/>
                    </a:lnTo>
                    <a:cubicBezTo>
                      <a:pt x="3294062" y="1239831"/>
                      <a:pt x="3238181" y="1295711"/>
                      <a:pt x="3169601" y="1295711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796470" y="644365"/>
              <a:ext cx="11096966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Ob</a:t>
              </a:r>
              <a:r>
                <a:rPr lang="en-US" b="true" sz="2299" u="none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tenção dos Dados de Coordenadas dos Postos de Saúde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96470" y="1501819"/>
              <a:ext cx="11096966" cy="2055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Coordenadas geográficas (latitude e longitude) dos 54 postos de saúde foram obtidas por meio de consultas manuais na plataforma Google Maps.</a:t>
              </a:r>
            </a:p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01698" y="5501834"/>
            <a:ext cx="3231988" cy="4114800"/>
          </a:xfrm>
          <a:custGeom>
            <a:avLst/>
            <a:gdLst/>
            <a:ahLst/>
            <a:cxnLst/>
            <a:rect r="r" b="b" t="t" l="l"/>
            <a:pathLst>
              <a:path h="4114800" w="3231988">
                <a:moveTo>
                  <a:pt x="0" y="0"/>
                </a:moveTo>
                <a:lnTo>
                  <a:pt x="3231988" y="0"/>
                </a:lnTo>
                <a:lnTo>
                  <a:pt x="32319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06317" y="1355143"/>
            <a:ext cx="4826257" cy="194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F5F5EF"/>
                </a:solidFill>
                <a:latin typeface="Now Bold"/>
                <a:ea typeface="Now Bold"/>
                <a:cs typeface="Now Bold"/>
                <a:sym typeface="Now Bold"/>
              </a:rPr>
              <a:t>Coleta de Dados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87699" y="1819458"/>
            <a:ext cx="14993447" cy="2492661"/>
          </a:xfrm>
          <a:custGeom>
            <a:avLst/>
            <a:gdLst/>
            <a:ahLst/>
            <a:cxnLst/>
            <a:rect r="r" b="b" t="t" l="l"/>
            <a:pathLst>
              <a:path h="2492661" w="14993447">
                <a:moveTo>
                  <a:pt x="0" y="0"/>
                </a:moveTo>
                <a:lnTo>
                  <a:pt x="14993448" y="0"/>
                </a:lnTo>
                <a:lnTo>
                  <a:pt x="14993448" y="2492660"/>
                </a:lnTo>
                <a:lnTo>
                  <a:pt x="0" y="2492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de Demanda dos Postos: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3182" y="5687994"/>
            <a:ext cx="14577965" cy="231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cenário modelado neste trabalho busca representar um estágio intermediário do processo de imunização da população, no qual já houve uma primeira distribuição feita pelo Ministério da Saúde, e agora temos municípios com excedente e outros com déficit de vacinas.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75670" y="2714080"/>
            <a:ext cx="16133165" cy="5162613"/>
          </a:xfrm>
          <a:custGeom>
            <a:avLst/>
            <a:gdLst/>
            <a:ahLst/>
            <a:cxnLst/>
            <a:rect r="r" b="b" t="t" l="l"/>
            <a:pathLst>
              <a:path h="5162613" w="16133165">
                <a:moveTo>
                  <a:pt x="0" y="0"/>
                </a:moveTo>
                <a:lnTo>
                  <a:pt x="16133165" y="0"/>
                </a:lnTo>
                <a:lnTo>
                  <a:pt x="16133165" y="5162613"/>
                </a:lnTo>
                <a:lnTo>
                  <a:pt x="0" y="5162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de Demanda dos Postos: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368600" y="1159234"/>
            <a:ext cx="11992972" cy="8889791"/>
          </a:xfrm>
          <a:custGeom>
            <a:avLst/>
            <a:gdLst/>
            <a:ahLst/>
            <a:cxnLst/>
            <a:rect r="r" b="b" t="t" l="l"/>
            <a:pathLst>
              <a:path h="8889791" w="11992972">
                <a:moveTo>
                  <a:pt x="0" y="0"/>
                </a:moveTo>
                <a:lnTo>
                  <a:pt x="11992972" y="0"/>
                </a:lnTo>
                <a:lnTo>
                  <a:pt x="11992972" y="8889791"/>
                </a:lnTo>
                <a:lnTo>
                  <a:pt x="0" y="888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de Demanda dos Postos: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666761" y="2443962"/>
            <a:ext cx="3611984" cy="781368"/>
          </a:xfrm>
          <a:custGeom>
            <a:avLst/>
            <a:gdLst/>
            <a:ahLst/>
            <a:cxnLst/>
            <a:rect r="r" b="b" t="t" l="l"/>
            <a:pathLst>
              <a:path h="781368" w="3611984">
                <a:moveTo>
                  <a:pt x="0" y="0"/>
                </a:moveTo>
                <a:lnTo>
                  <a:pt x="3611984" y="0"/>
                </a:lnTo>
                <a:lnTo>
                  <a:pt x="3611984" y="781368"/>
                </a:lnTo>
                <a:lnTo>
                  <a:pt x="0" y="781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98571" y="6884333"/>
            <a:ext cx="7548364" cy="1298370"/>
          </a:xfrm>
          <a:custGeom>
            <a:avLst/>
            <a:gdLst/>
            <a:ahLst/>
            <a:cxnLst/>
            <a:rect r="r" b="b" t="t" l="l"/>
            <a:pathLst>
              <a:path h="1298370" w="7548364">
                <a:moveTo>
                  <a:pt x="0" y="0"/>
                </a:moveTo>
                <a:lnTo>
                  <a:pt x="7548364" y="0"/>
                </a:lnTo>
                <a:lnTo>
                  <a:pt x="7548364" y="1298370"/>
                </a:lnTo>
                <a:lnTo>
                  <a:pt x="0" y="1298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de Demanda dos Postos: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5864" y="1581246"/>
            <a:ext cx="6585912" cy="57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Demanda dos 2 postos: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5864" y="3438443"/>
            <a:ext cx="15866356" cy="115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onde γ ∈ (0,1) representa a fração da rede de vacinação capturada pelo conjunto de postos considerados. Neste trabalho, adota-se γ = 0,1.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5864" y="5992345"/>
            <a:ext cx="5076078" cy="57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Demanda de cada posto: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918949"/>
            <a:ext cx="10297422" cy="8449101"/>
            <a:chOff x="0" y="0"/>
            <a:chExt cx="3483325" cy="28580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3325" cy="2858091"/>
            </a:xfrm>
            <a:custGeom>
              <a:avLst/>
              <a:gdLst/>
              <a:ahLst/>
              <a:cxnLst/>
              <a:rect r="r" b="b" t="t" l="l"/>
              <a:pathLst>
                <a:path h="2858091" w="3483325">
                  <a:moveTo>
                    <a:pt x="3358865" y="2858091"/>
                  </a:moveTo>
                  <a:lnTo>
                    <a:pt x="124460" y="2858091"/>
                  </a:lnTo>
                  <a:cubicBezTo>
                    <a:pt x="55880" y="2858091"/>
                    <a:pt x="0" y="2802211"/>
                    <a:pt x="0" y="27336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58866" y="0"/>
                  </a:lnTo>
                  <a:cubicBezTo>
                    <a:pt x="3427445" y="0"/>
                    <a:pt x="3483325" y="55880"/>
                    <a:pt x="3483325" y="124460"/>
                  </a:cubicBezTo>
                  <a:lnTo>
                    <a:pt x="3483325" y="2733631"/>
                  </a:lnTo>
                  <a:cubicBezTo>
                    <a:pt x="3483325" y="2802211"/>
                    <a:pt x="3427445" y="2858091"/>
                    <a:pt x="3358866" y="2858091"/>
                  </a:cubicBezTo>
                  <a:close/>
                </a:path>
              </a:pathLst>
            </a:custGeom>
            <a:solidFill>
              <a:srgbClr val="F5F5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585950" y="4981781"/>
            <a:ext cx="6918498" cy="6918498"/>
            <a:chOff x="0" y="0"/>
            <a:chExt cx="9224664" cy="92246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24664" cy="922466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845307" y="845307"/>
              <a:ext cx="7534051" cy="7534051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2461415" y="1707150"/>
            <a:ext cx="5802926" cy="7100031"/>
            <a:chOff x="0" y="0"/>
            <a:chExt cx="7737234" cy="946670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8575"/>
              <a:ext cx="7737234" cy="1591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4200" b="true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Dados de Of</a:t>
              </a:r>
              <a:r>
                <a:rPr lang="en-US" b="true" sz="4200">
                  <a:solidFill>
                    <a:srgbClr val="F5F5E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erta de Vacinas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12548"/>
              <a:ext cx="773723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077550"/>
              <a:ext cx="7737234" cy="6389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Dados reais são sigilosos.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Dados gerados artificialmente utilizando uma variável aleatória de distribuição uniforme.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F5F5EF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Conjunto de dados construído de forma a garantir que a oferta total da rede seja suficiente para atender a demanda agregada, mas sem impor autossuficiência a nível municipal, incentivando as trocas entre municípios.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21955" y="1707150"/>
            <a:ext cx="6090457" cy="5052157"/>
            <a:chOff x="0" y="0"/>
            <a:chExt cx="8120609" cy="673620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28575"/>
              <a:ext cx="8120609" cy="2366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</a:pPr>
              <a:r>
                <a:rPr lang="en-US" sz="4200" b="true">
                  <a:solidFill>
                    <a:srgbClr val="09427D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Ob</a:t>
              </a:r>
              <a:r>
                <a:rPr lang="en-US" b="true" sz="4200">
                  <a:solidFill>
                    <a:srgbClr val="09427D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tenção dos Dados de Expiração das Vacinas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087248"/>
              <a:ext cx="812060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852250"/>
              <a:ext cx="7114957" cy="288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16294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Dados reais são sigilosos.</a:t>
              </a:r>
            </a:p>
            <a:p>
              <a:pPr algn="l" marL="539746" indent="-269873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62942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Dados gerados artificialmente utilizando uma variável aleatória de distribuição uniforme e a vida útil típica da vacina do tipo v.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854999" y="3130408"/>
            <a:ext cx="3586423" cy="6281951"/>
          </a:xfrm>
          <a:custGeom>
            <a:avLst/>
            <a:gdLst/>
            <a:ahLst/>
            <a:cxnLst/>
            <a:rect r="r" b="b" t="t" l="l"/>
            <a:pathLst>
              <a:path h="6281951" w="3586423">
                <a:moveTo>
                  <a:pt x="0" y="0"/>
                </a:moveTo>
                <a:lnTo>
                  <a:pt x="3586423" y="0"/>
                </a:lnTo>
                <a:lnTo>
                  <a:pt x="3586423" y="6281951"/>
                </a:lnTo>
                <a:lnTo>
                  <a:pt x="0" y="6281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635726" y="6172200"/>
            <a:ext cx="3793097" cy="4114800"/>
          </a:xfrm>
          <a:custGeom>
            <a:avLst/>
            <a:gdLst/>
            <a:ahLst/>
            <a:cxnLst/>
            <a:rect r="r" b="b" t="t" l="l"/>
            <a:pathLst>
              <a:path h="4114800" w="3793097">
                <a:moveTo>
                  <a:pt x="0" y="0"/>
                </a:moveTo>
                <a:lnTo>
                  <a:pt x="3793097" y="0"/>
                </a:lnTo>
                <a:lnTo>
                  <a:pt x="37930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01897" y="2210293"/>
            <a:ext cx="3342261" cy="489900"/>
          </a:xfrm>
          <a:custGeom>
            <a:avLst/>
            <a:gdLst/>
            <a:ahLst/>
            <a:cxnLst/>
            <a:rect r="r" b="b" t="t" l="l"/>
            <a:pathLst>
              <a:path h="489900" w="3342261">
                <a:moveTo>
                  <a:pt x="0" y="0"/>
                </a:moveTo>
                <a:lnTo>
                  <a:pt x="3342261" y="0"/>
                </a:lnTo>
                <a:lnTo>
                  <a:pt x="3342261" y="489901"/>
                </a:lnTo>
                <a:lnTo>
                  <a:pt x="0" y="489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0" r="-5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29207" y="4749739"/>
            <a:ext cx="3439806" cy="662262"/>
          </a:xfrm>
          <a:custGeom>
            <a:avLst/>
            <a:gdLst/>
            <a:ahLst/>
            <a:cxnLst/>
            <a:rect r="r" b="b" t="t" l="l"/>
            <a:pathLst>
              <a:path h="662262" w="3439806">
                <a:moveTo>
                  <a:pt x="0" y="0"/>
                </a:moveTo>
                <a:lnTo>
                  <a:pt x="3439806" y="0"/>
                </a:lnTo>
                <a:lnTo>
                  <a:pt x="3439806" y="662261"/>
                </a:lnTo>
                <a:lnTo>
                  <a:pt x="0" y="662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72782" y="4818422"/>
            <a:ext cx="3566894" cy="524894"/>
          </a:xfrm>
          <a:custGeom>
            <a:avLst/>
            <a:gdLst/>
            <a:ahLst/>
            <a:cxnLst/>
            <a:rect r="r" b="b" t="t" l="l"/>
            <a:pathLst>
              <a:path h="524894" w="3566894">
                <a:moveTo>
                  <a:pt x="0" y="0"/>
                </a:moveTo>
                <a:lnTo>
                  <a:pt x="3566893" y="0"/>
                </a:lnTo>
                <a:lnTo>
                  <a:pt x="3566893" y="524895"/>
                </a:lnTo>
                <a:lnTo>
                  <a:pt x="0" y="524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290016" y="7463049"/>
            <a:ext cx="1966023" cy="735382"/>
          </a:xfrm>
          <a:custGeom>
            <a:avLst/>
            <a:gdLst/>
            <a:ahLst/>
            <a:cxnLst/>
            <a:rect r="r" b="b" t="t" l="l"/>
            <a:pathLst>
              <a:path h="735382" w="1966023">
                <a:moveTo>
                  <a:pt x="0" y="0"/>
                </a:moveTo>
                <a:lnTo>
                  <a:pt x="1966023" y="0"/>
                </a:lnTo>
                <a:lnTo>
                  <a:pt x="1966023" y="735383"/>
                </a:lnTo>
                <a:lnTo>
                  <a:pt x="0" y="735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Definição dos Valores de Parâmetros: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5864" y="1427343"/>
            <a:ext cx="5514855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Valor de M: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5864" y="3862244"/>
            <a:ext cx="8474129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Tempo de Processamento Logístico: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5864" y="6574050"/>
            <a:ext cx="6967164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Penalização do Modal Aéreo: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60974" y="2319315"/>
            <a:ext cx="10166053" cy="521010"/>
          </a:xfrm>
          <a:custGeom>
            <a:avLst/>
            <a:gdLst/>
            <a:ahLst/>
            <a:cxnLst/>
            <a:rect r="r" b="b" t="t" l="l"/>
            <a:pathLst>
              <a:path h="521010" w="10166053">
                <a:moveTo>
                  <a:pt x="0" y="0"/>
                </a:moveTo>
                <a:lnTo>
                  <a:pt x="10166052" y="0"/>
                </a:lnTo>
                <a:lnTo>
                  <a:pt x="10166052" y="521010"/>
                </a:lnTo>
                <a:lnTo>
                  <a:pt x="0" y="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70582" y="4497142"/>
            <a:ext cx="8457076" cy="3604829"/>
          </a:xfrm>
          <a:custGeom>
            <a:avLst/>
            <a:gdLst/>
            <a:ahLst/>
            <a:cxnLst/>
            <a:rect r="r" b="b" t="t" l="l"/>
            <a:pathLst>
              <a:path h="3604829" w="8457076">
                <a:moveTo>
                  <a:pt x="0" y="0"/>
                </a:moveTo>
                <a:lnTo>
                  <a:pt x="8457076" y="0"/>
                </a:lnTo>
                <a:lnTo>
                  <a:pt x="8457076" y="3604828"/>
                </a:lnTo>
                <a:lnTo>
                  <a:pt x="0" y="3604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083411" y="9577138"/>
            <a:ext cx="8121178" cy="568482"/>
          </a:xfrm>
          <a:custGeom>
            <a:avLst/>
            <a:gdLst/>
            <a:ahLst/>
            <a:cxnLst/>
            <a:rect r="r" b="b" t="t" l="l"/>
            <a:pathLst>
              <a:path h="568482" w="8121178">
                <a:moveTo>
                  <a:pt x="0" y="0"/>
                </a:moveTo>
                <a:lnTo>
                  <a:pt x="8121178" y="0"/>
                </a:lnTo>
                <a:lnTo>
                  <a:pt x="8121178" y="568482"/>
                </a:lnTo>
                <a:lnTo>
                  <a:pt x="0" y="5684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Definição dos Valores de Parâmetros: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5864" y="1342819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Capacidade dos Veículos de Cada Modal: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5864" y="3658057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Número de Veículos dos Municípios e Estados: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72687" y="8730891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Velocidade Média dos Modais: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72237" y="2429934"/>
            <a:ext cx="12932090" cy="7387456"/>
          </a:xfrm>
          <a:custGeom>
            <a:avLst/>
            <a:gdLst/>
            <a:ahLst/>
            <a:cxnLst/>
            <a:rect r="r" b="b" t="t" l="l"/>
            <a:pathLst>
              <a:path h="7387456" w="12932090">
                <a:moveTo>
                  <a:pt x="0" y="0"/>
                </a:moveTo>
                <a:lnTo>
                  <a:pt x="12932090" y="0"/>
                </a:lnTo>
                <a:lnTo>
                  <a:pt x="12932090" y="7387456"/>
                </a:lnTo>
                <a:lnTo>
                  <a:pt x="0" y="738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Definição dos Valores de Parâmetros: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5864" y="1587787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Fator de Tortuosidade da Distância Geodésica: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33779" y="2351369"/>
            <a:ext cx="10997993" cy="4729137"/>
          </a:xfrm>
          <a:custGeom>
            <a:avLst/>
            <a:gdLst/>
            <a:ahLst/>
            <a:cxnLst/>
            <a:rect r="r" b="b" t="t" l="l"/>
            <a:pathLst>
              <a:path h="4729137" w="10997993">
                <a:moveTo>
                  <a:pt x="0" y="0"/>
                </a:moveTo>
                <a:lnTo>
                  <a:pt x="10997992" y="0"/>
                </a:lnTo>
                <a:lnTo>
                  <a:pt x="10997992" y="4729137"/>
                </a:lnTo>
                <a:lnTo>
                  <a:pt x="0" y="4729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803704" y="7642481"/>
            <a:ext cx="3658143" cy="2510816"/>
          </a:xfrm>
          <a:custGeom>
            <a:avLst/>
            <a:gdLst/>
            <a:ahLst/>
            <a:cxnLst/>
            <a:rect r="r" b="b" t="t" l="l"/>
            <a:pathLst>
              <a:path h="2510816" w="3658143">
                <a:moveTo>
                  <a:pt x="0" y="0"/>
                </a:moveTo>
                <a:lnTo>
                  <a:pt x="3658142" y="0"/>
                </a:lnTo>
                <a:lnTo>
                  <a:pt x="3658142" y="2510816"/>
                </a:lnTo>
                <a:lnTo>
                  <a:pt x="0" y="2510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Definição dos Valores de Parâmetros: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5864" y="1449575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Fator de Tortuosidade da Distância Geodésica: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708257" y="2851023"/>
            <a:ext cx="12074665" cy="5418506"/>
          </a:xfrm>
          <a:custGeom>
            <a:avLst/>
            <a:gdLst/>
            <a:ahLst/>
            <a:cxnLst/>
            <a:rect r="r" b="b" t="t" l="l"/>
            <a:pathLst>
              <a:path h="5418506" w="12074665">
                <a:moveTo>
                  <a:pt x="0" y="0"/>
                </a:moveTo>
                <a:lnTo>
                  <a:pt x="12074665" y="0"/>
                </a:lnTo>
                <a:lnTo>
                  <a:pt x="12074665" y="5418506"/>
                </a:lnTo>
                <a:lnTo>
                  <a:pt x="0" y="5418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57176"/>
            <a:ext cx="12721794" cy="72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Definição dos Valores de Parâmetros: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5864" y="1396600"/>
            <a:ext cx="11876288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u="sng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Fator de Tortuosidade da Distância Geodésica: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3412" y="4424362"/>
            <a:ext cx="666117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827810" y="1280905"/>
            <a:ext cx="3830733" cy="8798328"/>
          </a:xfrm>
          <a:custGeom>
            <a:avLst/>
            <a:gdLst/>
            <a:ahLst/>
            <a:cxnLst/>
            <a:rect r="r" b="b" t="t" l="l"/>
            <a:pathLst>
              <a:path h="8798328" w="3830733">
                <a:moveTo>
                  <a:pt x="0" y="0"/>
                </a:moveTo>
                <a:lnTo>
                  <a:pt x="3830733" y="0"/>
                </a:lnTo>
                <a:lnTo>
                  <a:pt x="3830733" y="8798328"/>
                </a:lnTo>
                <a:lnTo>
                  <a:pt x="0" y="8798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47651"/>
            <a:ext cx="12721794" cy="78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do csv de Comparação Entre Modelos: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186810" y="1460922"/>
            <a:ext cx="2804521" cy="8296708"/>
          </a:xfrm>
          <a:custGeom>
            <a:avLst/>
            <a:gdLst/>
            <a:ahLst/>
            <a:cxnLst/>
            <a:rect r="r" b="b" t="t" l="l"/>
            <a:pathLst>
              <a:path h="8296708" w="2804521">
                <a:moveTo>
                  <a:pt x="0" y="0"/>
                </a:moveTo>
                <a:lnTo>
                  <a:pt x="2804521" y="0"/>
                </a:lnTo>
                <a:lnTo>
                  <a:pt x="2804521" y="8296708"/>
                </a:lnTo>
                <a:lnTo>
                  <a:pt x="0" y="8296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5864" y="247651"/>
            <a:ext cx="12721794" cy="78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Dados de csv’s Específicos Para Cada Modelo: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486" y="1275184"/>
            <a:ext cx="17663122" cy="7484748"/>
          </a:xfrm>
          <a:custGeom>
            <a:avLst/>
            <a:gdLst/>
            <a:ahLst/>
            <a:cxnLst/>
            <a:rect r="r" b="b" t="t" l="l"/>
            <a:pathLst>
              <a:path h="7484748" w="17663122">
                <a:moveTo>
                  <a:pt x="0" y="0"/>
                </a:moveTo>
                <a:lnTo>
                  <a:pt x="17663123" y="0"/>
                </a:lnTo>
                <a:lnTo>
                  <a:pt x="17663123" y="7484748"/>
                </a:lnTo>
                <a:lnTo>
                  <a:pt x="0" y="7484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Comparação Entre Modelos: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5464" y="9001125"/>
            <a:ext cx="1443178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Modelos Sem Penalidade: Modelo 2 tem um tempo 27% maior.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5464" y="9629775"/>
            <a:ext cx="1443178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Modelos Com Penalidade: Modelo 2 tem um tempo 21% maior.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486" y="1391406"/>
            <a:ext cx="17744394" cy="7674451"/>
          </a:xfrm>
          <a:custGeom>
            <a:avLst/>
            <a:gdLst/>
            <a:ahLst/>
            <a:cxnLst/>
            <a:rect r="r" b="b" t="t" l="l"/>
            <a:pathLst>
              <a:path h="7674451" w="17744394">
                <a:moveTo>
                  <a:pt x="0" y="0"/>
                </a:moveTo>
                <a:lnTo>
                  <a:pt x="17744395" y="0"/>
                </a:lnTo>
                <a:lnTo>
                  <a:pt x="17744395" y="7674451"/>
                </a:lnTo>
                <a:lnTo>
                  <a:pt x="0" y="7674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Comparação Entre Modelos: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351" y="1294989"/>
            <a:ext cx="17745298" cy="7697023"/>
          </a:xfrm>
          <a:custGeom>
            <a:avLst/>
            <a:gdLst/>
            <a:ahLst/>
            <a:cxnLst/>
            <a:rect r="r" b="b" t="t" l="l"/>
            <a:pathLst>
              <a:path h="7697023" w="17745298">
                <a:moveTo>
                  <a:pt x="0" y="0"/>
                </a:moveTo>
                <a:lnTo>
                  <a:pt x="17745298" y="0"/>
                </a:lnTo>
                <a:lnTo>
                  <a:pt x="17745298" y="7697022"/>
                </a:lnTo>
                <a:lnTo>
                  <a:pt x="0" y="7697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Comparação Entre Modelos: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486" y="1314737"/>
            <a:ext cx="17756583" cy="7657526"/>
          </a:xfrm>
          <a:custGeom>
            <a:avLst/>
            <a:gdLst/>
            <a:ahLst/>
            <a:cxnLst/>
            <a:rect r="r" b="b" t="t" l="l"/>
            <a:pathLst>
              <a:path h="7657526" w="17756583">
                <a:moveTo>
                  <a:pt x="0" y="0"/>
                </a:moveTo>
                <a:lnTo>
                  <a:pt x="17756583" y="0"/>
                </a:lnTo>
                <a:lnTo>
                  <a:pt x="17756583" y="7657526"/>
                </a:lnTo>
                <a:lnTo>
                  <a:pt x="0" y="765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Comparação Entre Modelos: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5070" y="1028700"/>
            <a:ext cx="14146494" cy="9018390"/>
          </a:xfrm>
          <a:custGeom>
            <a:avLst/>
            <a:gdLst/>
            <a:ahLst/>
            <a:cxnLst/>
            <a:rect r="r" b="b" t="t" l="l"/>
            <a:pathLst>
              <a:path h="9018390" w="14146494">
                <a:moveTo>
                  <a:pt x="0" y="0"/>
                </a:moveTo>
                <a:lnTo>
                  <a:pt x="14146493" y="0"/>
                </a:lnTo>
                <a:lnTo>
                  <a:pt x="14146493" y="9018390"/>
                </a:lnTo>
                <a:lnTo>
                  <a:pt x="0" y="9018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Comparação Entre Modelos: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6848" y="1028700"/>
            <a:ext cx="10514304" cy="9042301"/>
          </a:xfrm>
          <a:custGeom>
            <a:avLst/>
            <a:gdLst/>
            <a:ahLst/>
            <a:cxnLst/>
            <a:rect r="r" b="b" t="t" l="l"/>
            <a:pathLst>
              <a:path h="9042301" w="10514304">
                <a:moveTo>
                  <a:pt x="0" y="0"/>
                </a:moveTo>
                <a:lnTo>
                  <a:pt x="10514304" y="0"/>
                </a:lnTo>
                <a:lnTo>
                  <a:pt x="10514304" y="9042301"/>
                </a:lnTo>
                <a:lnTo>
                  <a:pt x="0" y="9042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4649" y="1024467"/>
            <a:ext cx="11698702" cy="9124987"/>
          </a:xfrm>
          <a:custGeom>
            <a:avLst/>
            <a:gdLst/>
            <a:ahLst/>
            <a:cxnLst/>
            <a:rect r="r" b="b" t="t" l="l"/>
            <a:pathLst>
              <a:path h="9124987" w="11698702">
                <a:moveTo>
                  <a:pt x="0" y="0"/>
                </a:moveTo>
                <a:lnTo>
                  <a:pt x="11698702" y="0"/>
                </a:lnTo>
                <a:lnTo>
                  <a:pt x="11698702" y="9124987"/>
                </a:lnTo>
                <a:lnTo>
                  <a:pt x="0" y="912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281" y="2400737"/>
            <a:ext cx="17589438" cy="5760541"/>
          </a:xfrm>
          <a:custGeom>
            <a:avLst/>
            <a:gdLst/>
            <a:ahLst/>
            <a:cxnLst/>
            <a:rect r="r" b="b" t="t" l="l"/>
            <a:pathLst>
              <a:path h="5760541" w="17589438">
                <a:moveTo>
                  <a:pt x="0" y="0"/>
                </a:moveTo>
                <a:lnTo>
                  <a:pt x="17589438" y="0"/>
                </a:lnTo>
                <a:lnTo>
                  <a:pt x="17589438" y="5760541"/>
                </a:lnTo>
                <a:lnTo>
                  <a:pt x="0" y="5760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46" y="1968362"/>
            <a:ext cx="9880156" cy="3136117"/>
          </a:xfrm>
          <a:custGeom>
            <a:avLst/>
            <a:gdLst/>
            <a:ahLst/>
            <a:cxnLst/>
            <a:rect r="r" b="b" t="t" l="l"/>
            <a:pathLst>
              <a:path h="3136117" w="9880156">
                <a:moveTo>
                  <a:pt x="0" y="0"/>
                </a:moveTo>
                <a:lnTo>
                  <a:pt x="9880156" y="0"/>
                </a:lnTo>
                <a:lnTo>
                  <a:pt x="9880156" y="3136117"/>
                </a:lnTo>
                <a:lnTo>
                  <a:pt x="0" y="3136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4546" y="6048375"/>
            <a:ext cx="9880156" cy="3409563"/>
          </a:xfrm>
          <a:custGeom>
            <a:avLst/>
            <a:gdLst/>
            <a:ahLst/>
            <a:cxnLst/>
            <a:rect r="r" b="b" t="t" l="l"/>
            <a:pathLst>
              <a:path h="3409563" w="9880156">
                <a:moveTo>
                  <a:pt x="0" y="0"/>
                </a:moveTo>
                <a:lnTo>
                  <a:pt x="9880156" y="0"/>
                </a:lnTo>
                <a:lnTo>
                  <a:pt x="9880156" y="3409563"/>
                </a:lnTo>
                <a:lnTo>
                  <a:pt x="0" y="3409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4546" y="1387337"/>
            <a:ext cx="41045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Sem Penalidade: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4546" y="5467350"/>
            <a:ext cx="41045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 Penalidade: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98720" y="1279516"/>
            <a:ext cx="8690559" cy="7723734"/>
          </a:xfrm>
          <a:custGeom>
            <a:avLst/>
            <a:gdLst/>
            <a:ahLst/>
            <a:cxnLst/>
            <a:rect r="r" b="b" t="t" l="l"/>
            <a:pathLst>
              <a:path h="7723734" w="8690559">
                <a:moveTo>
                  <a:pt x="0" y="0"/>
                </a:moveTo>
                <a:lnTo>
                  <a:pt x="8690560" y="0"/>
                </a:lnTo>
                <a:lnTo>
                  <a:pt x="8690560" y="7723735"/>
                </a:lnTo>
                <a:lnTo>
                  <a:pt x="0" y="7723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11021" y="9248775"/>
            <a:ext cx="1046595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 u="sng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  <a:hlinkClick r:id="rId3" tooltip="https://mapa-rotas-m1-false.netlify.app"/>
              </a:rPr>
              <a:t>Link: https://mapa-rotas-m1-false.netlify.app/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0163" y="1327754"/>
            <a:ext cx="8467674" cy="7631491"/>
          </a:xfrm>
          <a:custGeom>
            <a:avLst/>
            <a:gdLst/>
            <a:ahLst/>
            <a:cxnLst/>
            <a:rect r="r" b="b" t="t" l="l"/>
            <a:pathLst>
              <a:path h="7631491" w="8467674">
                <a:moveTo>
                  <a:pt x="0" y="0"/>
                </a:moveTo>
                <a:lnTo>
                  <a:pt x="8467674" y="0"/>
                </a:lnTo>
                <a:lnTo>
                  <a:pt x="8467674" y="7631492"/>
                </a:lnTo>
                <a:lnTo>
                  <a:pt x="0" y="763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1: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11021" y="9248775"/>
            <a:ext cx="1046595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 u="sng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  <a:hlinkClick r:id="rId3" tooltip="https://mapa-rotas-m1-true.netlify.app"/>
              </a:rPr>
              <a:t>Link: https://mapa-rotas-m1-true.netlify.app/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1116" y="1028700"/>
            <a:ext cx="11528246" cy="9092904"/>
          </a:xfrm>
          <a:custGeom>
            <a:avLst/>
            <a:gdLst/>
            <a:ahLst/>
            <a:cxnLst/>
            <a:rect r="r" b="b" t="t" l="l"/>
            <a:pathLst>
              <a:path h="9092904" w="11528246">
                <a:moveTo>
                  <a:pt x="0" y="0"/>
                </a:moveTo>
                <a:lnTo>
                  <a:pt x="11528246" y="0"/>
                </a:lnTo>
                <a:lnTo>
                  <a:pt x="11528246" y="9092904"/>
                </a:lnTo>
                <a:lnTo>
                  <a:pt x="0" y="9092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6033" y="1028700"/>
            <a:ext cx="11555969" cy="9056991"/>
          </a:xfrm>
          <a:custGeom>
            <a:avLst/>
            <a:gdLst/>
            <a:ahLst/>
            <a:cxnLst/>
            <a:rect r="r" b="b" t="t" l="l"/>
            <a:pathLst>
              <a:path h="9056991" w="11555969">
                <a:moveTo>
                  <a:pt x="0" y="0"/>
                </a:moveTo>
                <a:lnTo>
                  <a:pt x="11555969" y="0"/>
                </a:lnTo>
                <a:lnTo>
                  <a:pt x="11555969" y="9056991"/>
                </a:lnTo>
                <a:lnTo>
                  <a:pt x="0" y="9056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486" y="2578931"/>
            <a:ext cx="17610775" cy="5129138"/>
          </a:xfrm>
          <a:custGeom>
            <a:avLst/>
            <a:gdLst/>
            <a:ahLst/>
            <a:cxnLst/>
            <a:rect r="r" b="b" t="t" l="l"/>
            <a:pathLst>
              <a:path h="5129138" w="17610775">
                <a:moveTo>
                  <a:pt x="0" y="0"/>
                </a:moveTo>
                <a:lnTo>
                  <a:pt x="17610775" y="0"/>
                </a:lnTo>
                <a:lnTo>
                  <a:pt x="17610775" y="5129138"/>
                </a:lnTo>
                <a:lnTo>
                  <a:pt x="0" y="512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546" y="1968362"/>
            <a:ext cx="10531997" cy="3305468"/>
          </a:xfrm>
          <a:custGeom>
            <a:avLst/>
            <a:gdLst/>
            <a:ahLst/>
            <a:cxnLst/>
            <a:rect r="r" b="b" t="t" l="l"/>
            <a:pathLst>
              <a:path h="3305468" w="10531997">
                <a:moveTo>
                  <a:pt x="0" y="0"/>
                </a:moveTo>
                <a:lnTo>
                  <a:pt x="10531997" y="0"/>
                </a:lnTo>
                <a:lnTo>
                  <a:pt x="10531997" y="3305468"/>
                </a:lnTo>
                <a:lnTo>
                  <a:pt x="0" y="3305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4546" y="6419850"/>
            <a:ext cx="10531997" cy="3309673"/>
          </a:xfrm>
          <a:custGeom>
            <a:avLst/>
            <a:gdLst/>
            <a:ahLst/>
            <a:cxnLst/>
            <a:rect r="r" b="b" t="t" l="l"/>
            <a:pathLst>
              <a:path h="3309673" w="10531997">
                <a:moveTo>
                  <a:pt x="0" y="0"/>
                </a:moveTo>
                <a:lnTo>
                  <a:pt x="10531997" y="0"/>
                </a:lnTo>
                <a:lnTo>
                  <a:pt x="10531997" y="3309673"/>
                </a:lnTo>
                <a:lnTo>
                  <a:pt x="0" y="3309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4546" y="1387337"/>
            <a:ext cx="41045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Sem Penalidade: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4546" y="5838825"/>
            <a:ext cx="41045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Com Penalidade: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45849" y="1218150"/>
            <a:ext cx="8796301" cy="7850699"/>
          </a:xfrm>
          <a:custGeom>
            <a:avLst/>
            <a:gdLst/>
            <a:ahLst/>
            <a:cxnLst/>
            <a:rect r="r" b="b" t="t" l="l"/>
            <a:pathLst>
              <a:path h="7850699" w="8796301">
                <a:moveTo>
                  <a:pt x="0" y="0"/>
                </a:moveTo>
                <a:lnTo>
                  <a:pt x="8796302" y="0"/>
                </a:lnTo>
                <a:lnTo>
                  <a:pt x="8796302" y="7850700"/>
                </a:lnTo>
                <a:lnTo>
                  <a:pt x="0" y="785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11021" y="9248775"/>
            <a:ext cx="1046595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 u="sng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  <a:hlinkClick r:id="rId3" tooltip="https://mapa-rotas-m2-false.netlify.app"/>
              </a:rPr>
              <a:t>Link: https://mapa-rotas-m2-false.netlify.app/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6803" y="1229400"/>
            <a:ext cx="8734393" cy="7828200"/>
          </a:xfrm>
          <a:custGeom>
            <a:avLst/>
            <a:gdLst/>
            <a:ahLst/>
            <a:cxnLst/>
            <a:rect r="r" b="b" t="t" l="l"/>
            <a:pathLst>
              <a:path h="7828200" w="8734393">
                <a:moveTo>
                  <a:pt x="0" y="0"/>
                </a:moveTo>
                <a:lnTo>
                  <a:pt x="8734394" y="0"/>
                </a:lnTo>
                <a:lnTo>
                  <a:pt x="8734394" y="7828200"/>
                </a:lnTo>
                <a:lnTo>
                  <a:pt x="0" y="782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7486" y="233892"/>
            <a:ext cx="10204253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200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Resultados do Modelo 2: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11021" y="9248775"/>
            <a:ext cx="1046595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 u="sng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  <a:hlinkClick r:id="rId3" tooltip="https://mapa-rotas-m2-true.netlify.app"/>
              </a:rPr>
              <a:t>Link: https://mapa-rotas-m2-true.netlify.app/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4203" y="3024188"/>
            <a:ext cx="6819595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Discussão </a:t>
            </a:r>
          </a:p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e </a:t>
            </a:r>
          </a:p>
          <a:p>
            <a:pPr algn="ctr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Conclusão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77449" y="6699249"/>
            <a:ext cx="5942773" cy="688287"/>
          </a:xfrm>
          <a:custGeom>
            <a:avLst/>
            <a:gdLst/>
            <a:ahLst/>
            <a:cxnLst/>
            <a:rect r="r" b="b" t="t" l="l"/>
            <a:pathLst>
              <a:path h="688287" w="5942773">
                <a:moveTo>
                  <a:pt x="0" y="0"/>
                </a:moveTo>
                <a:lnTo>
                  <a:pt x="5942773" y="0"/>
                </a:lnTo>
                <a:lnTo>
                  <a:pt x="5942773" y="688287"/>
                </a:lnTo>
                <a:lnTo>
                  <a:pt x="0" y="68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172535"/>
            <a:ext cx="9804524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Nível de Complexidade do Problema: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471" y="1759130"/>
            <a:ext cx="1234171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9" indent="-431805" lvl="1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 Classificação de Complexidade: NP-difícil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471" y="5048250"/>
            <a:ext cx="1234171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No pior caso, o tempo de execução é da ordem: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056795" y="3179655"/>
            <a:ext cx="10166475" cy="533740"/>
          </a:xfrm>
          <a:custGeom>
            <a:avLst/>
            <a:gdLst/>
            <a:ahLst/>
            <a:cxnLst/>
            <a:rect r="r" b="b" t="t" l="l"/>
            <a:pathLst>
              <a:path h="533740" w="10166475">
                <a:moveTo>
                  <a:pt x="0" y="0"/>
                </a:moveTo>
                <a:lnTo>
                  <a:pt x="10166475" y="0"/>
                </a:lnTo>
                <a:lnTo>
                  <a:pt x="10166475" y="533740"/>
                </a:lnTo>
                <a:lnTo>
                  <a:pt x="0" y="53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056795" y="4008670"/>
            <a:ext cx="7671641" cy="1903576"/>
          </a:xfrm>
          <a:custGeom>
            <a:avLst/>
            <a:gdLst/>
            <a:ahLst/>
            <a:cxnLst/>
            <a:rect r="r" b="b" t="t" l="l"/>
            <a:pathLst>
              <a:path h="1903576" w="7671641">
                <a:moveTo>
                  <a:pt x="0" y="0"/>
                </a:moveTo>
                <a:lnTo>
                  <a:pt x="7671641" y="0"/>
                </a:lnTo>
                <a:lnTo>
                  <a:pt x="7671641" y="1903576"/>
                </a:lnTo>
                <a:lnTo>
                  <a:pt x="0" y="190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136392" y="9320076"/>
            <a:ext cx="6337504" cy="645221"/>
          </a:xfrm>
          <a:custGeom>
            <a:avLst/>
            <a:gdLst/>
            <a:ahLst/>
            <a:cxnLst/>
            <a:rect r="r" b="b" t="t" l="l"/>
            <a:pathLst>
              <a:path h="645221" w="6337504">
                <a:moveTo>
                  <a:pt x="0" y="0"/>
                </a:moveTo>
                <a:lnTo>
                  <a:pt x="6337504" y="0"/>
                </a:lnTo>
                <a:lnTo>
                  <a:pt x="6337504" y="645221"/>
                </a:lnTo>
                <a:lnTo>
                  <a:pt x="0" y="645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45471" y="172535"/>
            <a:ext cx="14112583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Análise de Complexidade do Modelo 2 (sem penalidade):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5471" y="1477837"/>
            <a:ext cx="14112583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Quantidade de vezes que as variáveis de decisão aparecem na função objetivo: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59877" y="6940946"/>
            <a:ext cx="674526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Tamanho da Instância: </a:t>
            </a: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6264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59877" y="8326302"/>
            <a:ext cx="7912871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Tempo de Execução no Pior Caso: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810470" y="2113299"/>
            <a:ext cx="8667060" cy="3174311"/>
          </a:xfrm>
          <a:custGeom>
            <a:avLst/>
            <a:gdLst/>
            <a:ahLst/>
            <a:cxnLst/>
            <a:rect r="r" b="b" t="t" l="l"/>
            <a:pathLst>
              <a:path h="3174311" w="8667060">
                <a:moveTo>
                  <a:pt x="0" y="0"/>
                </a:moveTo>
                <a:lnTo>
                  <a:pt x="8667060" y="0"/>
                </a:lnTo>
                <a:lnTo>
                  <a:pt x="8667060" y="3174311"/>
                </a:lnTo>
                <a:lnTo>
                  <a:pt x="0" y="3174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10470" y="6007639"/>
            <a:ext cx="8667060" cy="4279361"/>
          </a:xfrm>
          <a:custGeom>
            <a:avLst/>
            <a:gdLst/>
            <a:ahLst/>
            <a:cxnLst/>
            <a:rect r="r" b="b" t="t" l="l"/>
            <a:pathLst>
              <a:path h="4279361" w="8667060">
                <a:moveTo>
                  <a:pt x="0" y="0"/>
                </a:moveTo>
                <a:lnTo>
                  <a:pt x="8667060" y="0"/>
                </a:lnTo>
                <a:lnTo>
                  <a:pt x="8667060" y="4279361"/>
                </a:lnTo>
                <a:lnTo>
                  <a:pt x="0" y="4279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45471" y="172535"/>
            <a:ext cx="14112583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Análise de Complexidade do Modelo 2 (sem penalidade):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471" y="1230960"/>
            <a:ext cx="7797546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Tamanho da matriz de restrições: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36754" y="3598267"/>
            <a:ext cx="8788937" cy="558834"/>
          </a:xfrm>
          <a:custGeom>
            <a:avLst/>
            <a:gdLst/>
            <a:ahLst/>
            <a:cxnLst/>
            <a:rect r="r" b="b" t="t" l="l"/>
            <a:pathLst>
              <a:path h="558834" w="8788937">
                <a:moveTo>
                  <a:pt x="0" y="0"/>
                </a:moveTo>
                <a:lnTo>
                  <a:pt x="8788937" y="0"/>
                </a:lnTo>
                <a:lnTo>
                  <a:pt x="8788937" y="558834"/>
                </a:lnTo>
                <a:lnTo>
                  <a:pt x="0" y="558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5471" y="172535"/>
            <a:ext cx="14112583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Análise de Complexidade do Modelo 2 (sem penalidade):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5471" y="2068806"/>
            <a:ext cx="14697057" cy="69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Tamanho total da matriz do problema (Variáveis × Restrições):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59222" y="6445251"/>
            <a:ext cx="12341716" cy="281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O nível de complexidade nos revela:</a:t>
            </a:r>
          </a:p>
          <a:p>
            <a:pPr algn="l" marL="863609" indent="-431805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dependência do auxílio do poder computacional;</a:t>
            </a:r>
          </a:p>
          <a:p>
            <a:pPr algn="l" marL="863609" indent="-431805" lvl="1">
              <a:lnSpc>
                <a:spcPts val="5600"/>
              </a:lnSpc>
              <a:spcBef>
                <a:spcPct val="0"/>
              </a:spcBef>
              <a:buFont typeface="Arial"/>
              <a:buChar char="•"/>
            </a:pPr>
            <a:r>
              <a:rPr lang="en-US" sz="40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necessidade de uso de ferramentas de ponta, como o Gurobi Optimizer.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26004"/>
            <a:ext cx="18288000" cy="4560996"/>
            <a:chOff x="0" y="0"/>
            <a:chExt cx="6186311" cy="1542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1542856"/>
            </a:xfrm>
            <a:custGeom>
              <a:avLst/>
              <a:gdLst/>
              <a:ahLst/>
              <a:cxnLst/>
              <a:rect r="r" b="b" t="t" l="l"/>
              <a:pathLst>
                <a:path h="1542856" w="6186311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42903" y="3825992"/>
            <a:ext cx="2478589" cy="3800023"/>
            <a:chOff x="0" y="0"/>
            <a:chExt cx="1000040" cy="1533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17284" y="706602"/>
            <a:ext cx="10653432" cy="19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Limitações da Modelagem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395635" y="3825992"/>
            <a:ext cx="2478589" cy="3800023"/>
            <a:chOff x="0" y="0"/>
            <a:chExt cx="1000040" cy="1533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350474" y="3825992"/>
            <a:ext cx="2478589" cy="3800023"/>
            <a:chOff x="0" y="0"/>
            <a:chExt cx="1000040" cy="1533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05313" y="3825992"/>
            <a:ext cx="2478589" cy="3800023"/>
            <a:chOff x="0" y="0"/>
            <a:chExt cx="1000040" cy="15332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260153" y="3825992"/>
            <a:ext cx="2478589" cy="3800023"/>
            <a:chOff x="0" y="0"/>
            <a:chExt cx="1000040" cy="1533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214992" y="3825992"/>
            <a:ext cx="2478589" cy="3800023"/>
            <a:chOff x="0" y="0"/>
            <a:chExt cx="1000040" cy="15332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0040" cy="1533201"/>
            </a:xfrm>
            <a:custGeom>
              <a:avLst/>
              <a:gdLst/>
              <a:ahLst/>
              <a:cxnLst/>
              <a:rect r="r" b="b" t="t" l="l"/>
              <a:pathLst>
                <a:path h="1533201" w="1000040">
                  <a:moveTo>
                    <a:pt x="875580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408741"/>
                  </a:lnTo>
                  <a:cubicBezTo>
                    <a:pt x="1000040" y="1477321"/>
                    <a:pt x="944160" y="1533201"/>
                    <a:pt x="875580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37370" y="4824305"/>
            <a:ext cx="2296290" cy="1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Negligência de Instâncias Administrativas Intermediárias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0213" y="5086350"/>
            <a:ext cx="2391540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Homogeneidade da Malha Rodoviária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47049" y="5086350"/>
            <a:ext cx="2296290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Simetria da Fórmula de Haversine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01888" y="4867275"/>
            <a:ext cx="2296290" cy="1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Incapacidade de Previsão do Trânsito Rodoviário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00717" y="5043380"/>
            <a:ext cx="2296290" cy="1308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Simplificação do Tempo do Modal Aéreo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5403" y="4867275"/>
            <a:ext cx="2296290" cy="1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Agregação das Unidades de Vacina do Tipo V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26004"/>
            <a:ext cx="18288000" cy="4560996"/>
            <a:chOff x="0" y="0"/>
            <a:chExt cx="6186311" cy="1542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1542856"/>
            </a:xfrm>
            <a:custGeom>
              <a:avLst/>
              <a:gdLst/>
              <a:ahLst/>
              <a:cxnLst/>
              <a:rect r="r" b="b" t="t" l="l"/>
              <a:pathLst>
                <a:path h="1542856" w="6186311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524025"/>
            <a:ext cx="4212336" cy="3993204"/>
            <a:chOff x="0" y="0"/>
            <a:chExt cx="1617338" cy="1533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7338" cy="1533201"/>
            </a:xfrm>
            <a:custGeom>
              <a:avLst/>
              <a:gdLst/>
              <a:ahLst/>
              <a:cxnLst/>
              <a:rect r="r" b="b" t="t" l="l"/>
              <a:pathLst>
                <a:path h="1533201" w="1617338">
                  <a:moveTo>
                    <a:pt x="1492877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92878" y="0"/>
                  </a:lnTo>
                  <a:cubicBezTo>
                    <a:pt x="1561458" y="0"/>
                    <a:pt x="1617338" y="55880"/>
                    <a:pt x="1617338" y="124460"/>
                  </a:cubicBezTo>
                  <a:lnTo>
                    <a:pt x="1617338" y="1408741"/>
                  </a:lnTo>
                  <a:cubicBezTo>
                    <a:pt x="1617338" y="1477321"/>
                    <a:pt x="1561458" y="1533201"/>
                    <a:pt x="1492878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817284" y="384504"/>
            <a:ext cx="10653432" cy="196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80"/>
              </a:lnSpc>
              <a:spcBef>
                <a:spcPct val="0"/>
              </a:spcBef>
            </a:pPr>
            <a:r>
              <a:rPr lang="en-US" b="true" sz="64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Limitações da Aplicação dos Modelos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037832" y="3524025"/>
            <a:ext cx="4212336" cy="3993204"/>
            <a:chOff x="0" y="0"/>
            <a:chExt cx="1617338" cy="1533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7338" cy="1533201"/>
            </a:xfrm>
            <a:custGeom>
              <a:avLst/>
              <a:gdLst/>
              <a:ahLst/>
              <a:cxnLst/>
              <a:rect r="r" b="b" t="t" l="l"/>
              <a:pathLst>
                <a:path h="1533201" w="1617338">
                  <a:moveTo>
                    <a:pt x="1492877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92878" y="0"/>
                  </a:lnTo>
                  <a:cubicBezTo>
                    <a:pt x="1561458" y="0"/>
                    <a:pt x="1617338" y="55880"/>
                    <a:pt x="1617338" y="124460"/>
                  </a:cubicBezTo>
                  <a:lnTo>
                    <a:pt x="1617338" y="1408741"/>
                  </a:lnTo>
                  <a:cubicBezTo>
                    <a:pt x="1617338" y="1477321"/>
                    <a:pt x="1561458" y="1533201"/>
                    <a:pt x="1492878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46964" y="3524025"/>
            <a:ext cx="4212336" cy="3993204"/>
            <a:chOff x="0" y="0"/>
            <a:chExt cx="1617338" cy="15332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7338" cy="1533201"/>
            </a:xfrm>
            <a:custGeom>
              <a:avLst/>
              <a:gdLst/>
              <a:ahLst/>
              <a:cxnLst/>
              <a:rect r="r" b="b" t="t" l="l"/>
              <a:pathLst>
                <a:path h="1533201" w="1617338">
                  <a:moveTo>
                    <a:pt x="1492877" y="1533201"/>
                  </a:moveTo>
                  <a:lnTo>
                    <a:pt x="124460" y="1533201"/>
                  </a:lnTo>
                  <a:cubicBezTo>
                    <a:pt x="55880" y="1533201"/>
                    <a:pt x="0" y="1477321"/>
                    <a:pt x="0" y="14087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92878" y="0"/>
                  </a:lnTo>
                  <a:cubicBezTo>
                    <a:pt x="1561458" y="0"/>
                    <a:pt x="1617338" y="55880"/>
                    <a:pt x="1617338" y="124460"/>
                  </a:cubicBezTo>
                  <a:lnTo>
                    <a:pt x="1617338" y="1408741"/>
                  </a:lnTo>
                  <a:cubicBezTo>
                    <a:pt x="1617338" y="1477321"/>
                    <a:pt x="1561458" y="1533201"/>
                    <a:pt x="1492878" y="15332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86723" y="4373818"/>
            <a:ext cx="2296290" cy="2207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Sigilo dos Dados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5406" y="4745292"/>
            <a:ext cx="2960617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Atualização dos Dados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02893" y="4002342"/>
            <a:ext cx="2296290" cy="295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4A64B8"/>
                </a:solidFill>
                <a:latin typeface="Josefin Sans"/>
                <a:ea typeface="Josefin Sans"/>
                <a:cs typeface="Josefin Sans"/>
                <a:sym typeface="Josefin Sans"/>
              </a:rPr>
              <a:t>Volume Massivo de Dados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2753" y="8429626"/>
            <a:ext cx="17442493" cy="1590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 desafio da distribuição ótima de vacinas não reside apenas no processamento computacional das rotas ótimas, mas também na engenharia de dados necessária para coletar e organizar dados atualizados e em quantidade massiva.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5036" y="56515"/>
            <a:ext cx="15017928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Relevância do Trabalho e Conclusões Finais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036" y="1685309"/>
            <a:ext cx="14357687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A modelagem matemática, a estratégia de extração dos dados e geração de resultados não é derivado de nenhum artigo de conhecimento do autor.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036" y="4263028"/>
            <a:ext cx="14357687" cy="217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A pesquisa cumpriu com êxito o seu objetivo central de modelar, implementar e resolver o problema de redistribuição de vacinas em um cenário pandêmico no Brasil sob a ótica da Programação Linear Inteira, buscando minimizar o tempo logístico de transporte.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5036" y="7869039"/>
            <a:ext cx="14357687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A formulação matemática elaborada compreende e adapta-se facilmente a diferentes escalas de operação: nacional, estadual, municipal ou híbrida.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5036" y="56515"/>
            <a:ext cx="15017928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Relevância do Trabalho e Conclusões Finais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5036" y="1463010"/>
            <a:ext cx="14357687" cy="109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Os resultados gerados pelo sistema foram extremamente precisos e informativos.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036" y="2992725"/>
            <a:ext cx="14357687" cy="109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 solver revelou-se extremamente poderoso ao lidar rapidamete com complexidade colossal.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5036" y="7752422"/>
            <a:ext cx="14357687" cy="217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O trabalho desenvolvido deixa um legado prático, escalável e cientificamente embasado para o enfrentamento de crises de pandemia, mitigação de desperdício de vacinas e preservação de vidas no mundo.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5036" y="4558186"/>
            <a:ext cx="14357687" cy="272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199" spc="191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A lógica de otimização para redistribuição em uma rede previamente conhecida pode ser reaproveitada para o transporte de outros insumos em cenários logísticos de emergência ou de fornecimento contínuo amparados por contratos previamente firmados.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>
  <p:cSld>
    <p:bg>
      <p:bgPr>
        <a:solidFill>
          <a:srgbClr val="4A6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3412" y="4424362"/>
            <a:ext cx="6661177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39"/>
              </a:lnSpc>
            </a:pPr>
            <a:r>
              <a:rPr lang="en-US" sz="9199" b="true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Referências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848725" y="0"/>
            <a:ext cx="7098442" cy="7612270"/>
          </a:xfrm>
          <a:custGeom>
            <a:avLst/>
            <a:gdLst/>
            <a:ahLst/>
            <a:cxnLst/>
            <a:rect r="r" b="b" t="t" l="l"/>
            <a:pathLst>
              <a:path h="7612270" w="7098442">
                <a:moveTo>
                  <a:pt x="0" y="0"/>
                </a:moveTo>
                <a:lnTo>
                  <a:pt x="7098442" y="0"/>
                </a:lnTo>
                <a:lnTo>
                  <a:pt x="7098442" y="7612270"/>
                </a:lnTo>
                <a:lnTo>
                  <a:pt x="0" y="761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48725" y="7688278"/>
            <a:ext cx="7269754" cy="2135490"/>
          </a:xfrm>
          <a:custGeom>
            <a:avLst/>
            <a:gdLst/>
            <a:ahLst/>
            <a:cxnLst/>
            <a:rect r="r" b="b" t="t" l="l"/>
            <a:pathLst>
              <a:path h="2135490" w="7269754">
                <a:moveTo>
                  <a:pt x="0" y="0"/>
                </a:moveTo>
                <a:lnTo>
                  <a:pt x="7269754" y="0"/>
                </a:lnTo>
                <a:lnTo>
                  <a:pt x="7269754" y="2135491"/>
                </a:lnTo>
                <a:lnTo>
                  <a:pt x="0" y="2135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848725" y="9850815"/>
            <a:ext cx="7269754" cy="436185"/>
          </a:xfrm>
          <a:custGeom>
            <a:avLst/>
            <a:gdLst/>
            <a:ahLst/>
            <a:cxnLst/>
            <a:rect r="r" b="b" t="t" l="l"/>
            <a:pathLst>
              <a:path h="436185" w="7269754">
                <a:moveTo>
                  <a:pt x="0" y="0"/>
                </a:moveTo>
                <a:lnTo>
                  <a:pt x="7269754" y="0"/>
                </a:lnTo>
                <a:lnTo>
                  <a:pt x="7269754" y="436185"/>
                </a:lnTo>
                <a:lnTo>
                  <a:pt x="0" y="436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065841" y="0"/>
            <a:ext cx="7718925" cy="7226843"/>
          </a:xfrm>
          <a:custGeom>
            <a:avLst/>
            <a:gdLst/>
            <a:ahLst/>
            <a:cxnLst/>
            <a:rect r="r" b="b" t="t" l="l"/>
            <a:pathLst>
              <a:path h="7226843" w="7718925">
                <a:moveTo>
                  <a:pt x="0" y="0"/>
                </a:moveTo>
                <a:lnTo>
                  <a:pt x="7718925" y="0"/>
                </a:lnTo>
                <a:lnTo>
                  <a:pt x="7718925" y="7226843"/>
                </a:lnTo>
                <a:lnTo>
                  <a:pt x="0" y="7226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065841" y="7361464"/>
            <a:ext cx="8015167" cy="2925536"/>
          </a:xfrm>
          <a:custGeom>
            <a:avLst/>
            <a:gdLst/>
            <a:ahLst/>
            <a:cxnLst/>
            <a:rect r="r" b="b" t="t" l="l"/>
            <a:pathLst>
              <a:path h="2925536" w="8015167">
                <a:moveTo>
                  <a:pt x="0" y="0"/>
                </a:moveTo>
                <a:lnTo>
                  <a:pt x="8015167" y="0"/>
                </a:lnTo>
                <a:lnTo>
                  <a:pt x="8015167" y="2925536"/>
                </a:lnTo>
                <a:lnTo>
                  <a:pt x="0" y="2925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933571" y="-4875932"/>
            <a:ext cx="5852739" cy="8669109"/>
            <a:chOff x="0" y="0"/>
            <a:chExt cx="1541462" cy="2283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7755540">
            <a:off x="-2967378" y="6742882"/>
            <a:ext cx="5852739" cy="8669109"/>
            <a:chOff x="0" y="0"/>
            <a:chExt cx="1541462" cy="22832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A7BCDC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4933571" y="-5236688"/>
            <a:ext cx="5852739" cy="8669109"/>
            <a:chOff x="0" y="0"/>
            <a:chExt cx="1541462" cy="2283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7755540">
            <a:off x="-2931291" y="7101829"/>
            <a:ext cx="5852739" cy="8669109"/>
            <a:chOff x="0" y="0"/>
            <a:chExt cx="1541462" cy="2283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686C8">
                <a:alpha val="4000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700000">
            <a:off x="14933571" y="-5695833"/>
            <a:ext cx="5852739" cy="8669109"/>
            <a:chOff x="0" y="0"/>
            <a:chExt cx="1541462" cy="22832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7755540">
            <a:off x="-2885362" y="7558670"/>
            <a:ext cx="5852739" cy="8669109"/>
            <a:chOff x="0" y="0"/>
            <a:chExt cx="1541462" cy="22832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1462" cy="2283222"/>
            </a:xfrm>
            <a:custGeom>
              <a:avLst/>
              <a:gdLst/>
              <a:ahLst/>
              <a:cxnLst/>
              <a:rect r="r" b="b" t="t" l="l"/>
              <a:pathLst>
                <a:path h="2283222" w="1541462">
                  <a:moveTo>
                    <a:pt x="0" y="0"/>
                  </a:moveTo>
                  <a:lnTo>
                    <a:pt x="1541462" y="0"/>
                  </a:lnTo>
                  <a:lnTo>
                    <a:pt x="1541462" y="2283222"/>
                  </a:lnTo>
                  <a:lnTo>
                    <a:pt x="0" y="2283222"/>
                  </a:lnTo>
                  <a:close/>
                </a:path>
              </a:pathLst>
            </a:custGeom>
            <a:solidFill>
              <a:srgbClr val="4A64B8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41462" cy="232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741326" y="1513348"/>
            <a:ext cx="10805347" cy="6159048"/>
          </a:xfrm>
          <a:custGeom>
            <a:avLst/>
            <a:gdLst/>
            <a:ahLst/>
            <a:cxnLst/>
            <a:rect r="r" b="b" t="t" l="l"/>
            <a:pathLst>
              <a:path h="6159048" w="10805347">
                <a:moveTo>
                  <a:pt x="0" y="0"/>
                </a:moveTo>
                <a:lnTo>
                  <a:pt x="10805348" y="0"/>
                </a:lnTo>
                <a:lnTo>
                  <a:pt x="10805348" y="6159048"/>
                </a:lnTo>
                <a:lnTo>
                  <a:pt x="0" y="6159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910131">
            <a:off x="10638136" y="1715977"/>
            <a:ext cx="23300020" cy="11812180"/>
            <a:chOff x="0" y="0"/>
            <a:chExt cx="7881735" cy="3995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1735" cy="3995725"/>
            </a:xfrm>
            <a:custGeom>
              <a:avLst/>
              <a:gdLst/>
              <a:ahLst/>
              <a:cxnLst/>
              <a:rect r="r" b="b" t="t" l="l"/>
              <a:pathLst>
                <a:path h="3995725" w="7881735">
                  <a:moveTo>
                    <a:pt x="0" y="0"/>
                  </a:moveTo>
                  <a:lnTo>
                    <a:pt x="7881735" y="0"/>
                  </a:lnTo>
                  <a:lnTo>
                    <a:pt x="7881735" y="3995725"/>
                  </a:lnTo>
                  <a:lnTo>
                    <a:pt x="0" y="3995725"/>
                  </a:lnTo>
                  <a:close/>
                </a:path>
              </a:pathLst>
            </a:custGeom>
            <a:solidFill>
              <a:srgbClr val="4A64B8"/>
            </a:solidFill>
          </p:spPr>
        </p:sp>
      </p:grpSp>
      <p:grpSp>
        <p:nvGrpSpPr>
          <p:cNvPr name="Group 4" id="4"/>
          <p:cNvGrpSpPr/>
          <p:nvPr/>
        </p:nvGrpSpPr>
        <p:grpSpPr>
          <a:xfrm rot="-3910131">
            <a:off x="-14664796" y="-5906090"/>
            <a:ext cx="23300020" cy="11812180"/>
            <a:chOff x="0" y="0"/>
            <a:chExt cx="7881735" cy="3995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81735" cy="3995725"/>
            </a:xfrm>
            <a:custGeom>
              <a:avLst/>
              <a:gdLst/>
              <a:ahLst/>
              <a:cxnLst/>
              <a:rect r="r" b="b" t="t" l="l"/>
              <a:pathLst>
                <a:path h="3995725" w="7881735">
                  <a:moveTo>
                    <a:pt x="0" y="0"/>
                  </a:moveTo>
                  <a:lnTo>
                    <a:pt x="7881735" y="0"/>
                  </a:lnTo>
                  <a:lnTo>
                    <a:pt x="7881735" y="3995725"/>
                  </a:lnTo>
                  <a:lnTo>
                    <a:pt x="0" y="3995725"/>
                  </a:lnTo>
                  <a:close/>
                </a:path>
              </a:pathLst>
            </a:custGeom>
            <a:solidFill>
              <a:srgbClr val="4A64B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342358" y="4056183"/>
            <a:ext cx="9603285" cy="2088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15"/>
              </a:lnSpc>
            </a:pPr>
            <a:r>
              <a:rPr lang="en-US" b="true" sz="13266" spc="-663">
                <a:solidFill>
                  <a:srgbClr val="4A64B8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DAHSHepHT_E</dc:identifier>
  <dcterms:modified xsi:type="dcterms:W3CDTF">2011-08-01T06:04:30Z</dcterms:modified>
  <cp:revision>1</cp:revision>
  <dc:title>TCC</dc:title>
</cp:coreProperties>
</file>